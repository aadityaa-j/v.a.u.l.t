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865" autoAdjust="0"/>
  </p:normalViewPr>
  <p:slideViewPr>
    <p:cSldViewPr snapToGrid="0" snapToObjects="1">
      <p:cViewPr>
        <p:scale>
          <a:sx n="89" d="100"/>
          <a:sy n="89" d="100"/>
        </p:scale>
        <p:origin x="-403" y="-86"/>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8/31/2026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Right-hand graphic: why the workbench has to live inside MRPL's own network. Confidential source material goes in, an evidence-backed deliverable comes out, and nothing crosses the dashed boundary. Bottom strip: the end-to-end request flow — TASK, PLAN, RETRIEVE, REASON, VERIFY, RESPOND — with the amber loop showing the evidence-first rule: if VERIFY finds no supporting citation the system re-retrieves or abstains rather than guessing.</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Architecture reads top to bottom: React workbench, agent orchestration, the model layer served locally through Ollama, the RBAC-filtered knowledge and RAG pipeline, and security and governance underneath all of it. The whole stack sits inside the dashed MRPL boundary; the red strip on the right is the sovereignty claim — zero outbound calls, egress denied by default, drops logged. The Model Router and the VLM slot are the extension points for multi-model routing and multimodal input.</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Feasibility rests on infrastructure MRPL already operates. Each identified risk is paired with the design decision that contains it, so the panel can see the mitigations were built in rather than bolted on.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Left panel is the status quo: hours of manual searching, or confidential text pasted into a public tool. The four cards are what changes — speed, verifiability, zero data leaving the premises, and a pattern other sensitive Indian industries can reuse.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8/31/2026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8/31/2026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8/31/2026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8/31/2026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8/31/2026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8/31/2026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8/31/2026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8/31/2026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8/31/2026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8/31/2026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8/31/2026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8/31/2026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xmlns="" id="{3E443FD7-A66B-4AA0-872D-B088B9BC5F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xmlns="" id="{C04BE0EF-3561-49B4-9A29-F283168A91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xmlns=""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INDUS-AI</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3046988"/>
          </a:xfrm>
          <a:prstGeom prst="rect">
            <a:avLst/>
          </a:prstGeom>
          <a:noFill/>
        </p:spPr>
        <p:txBody>
          <a:bodyPr wrap="square" rtlCol="0">
            <a:spAutoFit/>
          </a:bodyPr>
          <a:lstStyle/>
          <a:p>
            <a:endParaRPr lang="en-US" dirty="0"/>
          </a:p>
          <a:p>
            <a:pPr marL="285750" indent="-285750" algn="just">
              <a:spcBef>
                <a:spcPts val="600"/>
              </a:spcBef>
              <a:buFont typeface="Arial" panose="020B0604020202020204" pitchFamily="34" charset="0"/>
              <a:buChar char="•"/>
            </a:pPr>
            <a:r>
              <a:rPr lang="en-US" sz="1800" b="1" dirty="0">
                <a:latin typeface="Arial" panose="020B0604020202020204" pitchFamily="34" charset="0"/>
                <a:cs typeface="Arial" panose="020B0604020202020204" pitchFamily="34" charset="0"/>
              </a:rPr>
              <a:t>Problem Statement ID –</a:t>
            </a:r>
            <a:r>
              <a:rPr lang="en-US" sz="1800" b="0" dirty="0">
                <a:latin typeface="Arial" panose="020B0604020202020204" pitchFamily="34" charset="0"/>
                <a:cs typeface="Arial" panose="020B0604020202020204" pitchFamily="34" charset="0"/>
              </a:rPr>
              <a:t> SIH26117</a:t>
            </a:r>
          </a:p>
          <a:p>
            <a:pPr marL="285750" indent="-285750" algn="just">
              <a:spcBef>
                <a:spcPts val="600"/>
              </a:spcBef>
              <a:buFont typeface="Arial" panose="020B0604020202020204" pitchFamily="34" charset="0"/>
              <a:buChar char="•"/>
            </a:pPr>
            <a:r>
              <a:rPr lang="en-US" sz="1800" b="1" dirty="0">
                <a:latin typeface="Arial" panose="020B0604020202020204" pitchFamily="34" charset="0"/>
                <a:cs typeface="Arial" panose="020B0604020202020204" pitchFamily="34" charset="0"/>
              </a:rPr>
              <a:t>Problem Statement Title-</a:t>
            </a:r>
            <a:r>
              <a:rPr lang="en-US" sz="1800" b="0" dirty="0">
                <a:latin typeface="Arial" panose="020B0604020202020204" pitchFamily="34" charset="0"/>
                <a:cs typeface="Arial" panose="020B0604020202020204" pitchFamily="34" charset="0"/>
              </a:rPr>
              <a:t> Sovereign On-Premise Agentic AI Workbench using Open-Weight Multimodal LLMs for Confidential Industrial Work</a:t>
            </a:r>
          </a:p>
          <a:p>
            <a:pPr marL="285750" indent="-285750" algn="just">
              <a:spcBef>
                <a:spcPts val="600"/>
              </a:spcBef>
              <a:buFont typeface="Arial" panose="020B0604020202020204" pitchFamily="34" charset="0"/>
              <a:buChar char="•"/>
            </a:pPr>
            <a:r>
              <a:rPr lang="en-US" sz="1800" b="1" dirty="0">
                <a:latin typeface="Arial" panose="020B0604020202020204" pitchFamily="34" charset="0"/>
                <a:cs typeface="Arial" panose="020B0604020202020204" pitchFamily="34" charset="0"/>
              </a:rPr>
              <a:t>Theme-</a:t>
            </a:r>
            <a:r>
              <a:rPr lang="en-US" sz="1800" b="0" dirty="0">
                <a:latin typeface="Arial" panose="020B0604020202020204" pitchFamily="34" charset="0"/>
                <a:cs typeface="Arial" panose="020B0604020202020204" pitchFamily="34" charset="0"/>
              </a:rPr>
              <a:t> Smart Automation</a:t>
            </a:r>
          </a:p>
          <a:p>
            <a:pPr marL="285750" indent="-285750" algn="just">
              <a:spcBef>
                <a:spcPts val="600"/>
              </a:spcBef>
              <a:buFont typeface="Arial" panose="020B0604020202020204" pitchFamily="34" charset="0"/>
              <a:buChar char="•"/>
            </a:pPr>
            <a:r>
              <a:rPr lang="en-US" sz="1800" b="1" dirty="0">
                <a:latin typeface="Arial" panose="020B0604020202020204" pitchFamily="34" charset="0"/>
                <a:cs typeface="Arial" panose="020B0604020202020204" pitchFamily="34" charset="0"/>
              </a:rPr>
              <a:t>PS Category- Software</a:t>
            </a:r>
          </a:p>
          <a:p>
            <a:pPr marL="285750" indent="-285750" algn="just">
              <a:spcBef>
                <a:spcPts val="600"/>
              </a:spcBef>
              <a:buFont typeface="Arial" panose="020B0604020202020204" pitchFamily="34" charset="0"/>
              <a:buChar char="•"/>
            </a:pPr>
            <a:r>
              <a:rPr lang="en-US" sz="1800" b="1" dirty="0">
                <a:latin typeface="Arial" panose="020B0604020202020204" pitchFamily="34" charset="0"/>
                <a:cs typeface="Arial" panose="020B0604020202020204" pitchFamily="34" charset="0"/>
              </a:rPr>
              <a:t>Team ID-</a:t>
            </a:r>
            <a:r>
              <a:rPr lang="en-US" sz="1800" b="0" dirty="0">
                <a:latin typeface="Arial" panose="020B0604020202020204" pitchFamily="34" charset="0"/>
                <a:cs typeface="Arial" panose="020B0604020202020204" pitchFamily="34" charset="0"/>
              </a:rPr>
              <a:t> 110</a:t>
            </a:r>
          </a:p>
          <a:p>
            <a:pPr marL="285750" indent="-285750" algn="just">
              <a:spcBef>
                <a:spcPts val="600"/>
              </a:spcBef>
              <a:buFont typeface="Arial" panose="020B0604020202020204" pitchFamily="34" charset="0"/>
              <a:buChar char="•"/>
            </a:pPr>
            <a:r>
              <a:rPr lang="en-US" sz="1800" b="1" dirty="0">
                <a:latin typeface="Arial" panose="020B0604020202020204" pitchFamily="34" charset="0"/>
                <a:cs typeface="Arial" panose="020B0604020202020204" pitchFamily="34" charset="0"/>
              </a:rPr>
              <a:t>Team Name </a:t>
            </a:r>
            <a:r>
              <a:rPr lang="en-US" sz="1800" b="1" dirty="0" smtClean="0">
                <a:latin typeface="Arial" panose="020B0604020202020204" pitchFamily="34" charset="0"/>
                <a:cs typeface="Arial" panose="020B0604020202020204" pitchFamily="34" charset="0"/>
              </a:rPr>
              <a:t>- Sparks</a:t>
            </a:r>
            <a:endParaRPr lang="en-IN" sz="24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marL="342900" indent="-342900">
              <a:spcAft>
                <a:spcPts val="700"/>
              </a:spcAft>
            </a:pPr>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1600" b="1" u="sng" dirty="0">
                <a:solidFill>
                  <a:schemeClr val="tx2"/>
                </a:solidFill>
                <a:latin typeface="Arial" pitchFamily="34" charset="0"/>
                <a:cs typeface="Arial" pitchFamily="34" charset="0"/>
              </a:rPr>
              <a:t>INDUS-AI — A Sovereign AI Colleague for MRPL’s Confidential Industrial Work</a:t>
            </a:r>
            <a:endParaRPr lang="en-US" sz="1600" u="sng" dirty="0">
              <a:solidFill>
                <a:schemeClr val="tx2"/>
              </a:solidFill>
              <a:latin typeface="Arial" pitchFamily="34" charset="0"/>
              <a:cs typeface="Arial" pitchFamily="34" charset="0"/>
            </a:endParaRPr>
          </a:p>
        </p:txBody>
      </p:sp>
      <p:sp>
        <p:nvSpPr>
          <p:cNvPr id="15362" name="TextBox 8"/>
          <p:cNvSpPr txBox="1">
            <a:spLocks noChangeArrowheads="1"/>
          </p:cNvSpPr>
          <p:nvPr/>
        </p:nvSpPr>
        <p:spPr bwMode="auto">
          <a:xfrm>
            <a:off x="457200" y="1298448"/>
            <a:ext cx="6446520" cy="2593018"/>
          </a:xfrm>
          <a:prstGeom prst="rect">
            <a:avLst/>
          </a:prstGeom>
          <a:noFill/>
          <a:ln w="9525">
            <a:noFill/>
            <a:miter lim="800000"/>
            <a:headEnd/>
            <a:tailEnd/>
          </a:ln>
        </p:spPr>
        <p:txBody>
          <a:bodyPr wrap="square">
            <a:spAutoFit/>
          </a:bodyPr>
          <a:lstStyle/>
          <a:p>
            <a:pPr marL="342900" indent="-342900" algn="just">
              <a:spcBef>
                <a:spcPts val="300"/>
              </a:spcBef>
              <a:spcAft>
                <a:spcPts val="700"/>
              </a:spcAft>
              <a:buFont typeface="Arial" panose="020B0604020202020204" pitchFamily="34" charset="0"/>
              <a:buChar char="•"/>
            </a:pPr>
            <a:r>
              <a:rPr lang="en-US" sz="1250" b="1" dirty="0" smtClean="0">
                <a:latin typeface="Arial" pitchFamily="34" charset="0"/>
                <a:cs typeface="Arial" pitchFamily="34" charset="0"/>
              </a:rPr>
              <a:t>The </a:t>
            </a:r>
            <a:r>
              <a:rPr lang="en-US" sz="1250" b="1" dirty="0">
                <a:latin typeface="Arial" pitchFamily="34" charset="0"/>
                <a:cs typeface="Arial" pitchFamily="34" charset="0"/>
              </a:rPr>
              <a:t>problem: </a:t>
            </a:r>
            <a:r>
              <a:rPr lang="en-US" sz="1250" b="0" dirty="0">
                <a:latin typeface="Arial" pitchFamily="34" charset="0"/>
                <a:cs typeface="Arial" pitchFamily="34" charset="0"/>
              </a:rPr>
              <a:t>MRPL's manuals, SOPs, inspection reports and P&amp;IDs are too sensitive for cloud AI, so engineers search and cross-check them by hand today.</a:t>
            </a:r>
          </a:p>
          <a:p>
            <a:pPr marL="342900" indent="-342900" algn="just">
              <a:spcBef>
                <a:spcPts val="300"/>
              </a:spcBef>
              <a:spcAft>
                <a:spcPts val="700"/>
              </a:spcAft>
              <a:buFont typeface="Arial" panose="020B0604020202020204" pitchFamily="34" charset="0"/>
              <a:buChar char="•"/>
            </a:pPr>
            <a:r>
              <a:rPr lang="en-US" sz="1250" b="1" dirty="0">
                <a:latin typeface="Arial" pitchFamily="34" charset="0"/>
                <a:cs typeface="Arial" pitchFamily="34" charset="0"/>
              </a:rPr>
              <a:t>Our solution: </a:t>
            </a:r>
            <a:r>
              <a:rPr lang="en-US" sz="1250" b="0" dirty="0">
                <a:latin typeface="Arial" pitchFamily="34" charset="0"/>
                <a:cs typeface="Arial" pitchFamily="34" charset="0"/>
              </a:rPr>
              <a:t>A private, on-premise AI workbench — RBAC-secured knowledge base + local Qwen3-4B inference + permission-aware RAG — that answers engineering questions from MRPL's own authorized documents.</a:t>
            </a:r>
          </a:p>
          <a:p>
            <a:pPr marL="342900" indent="-342900" algn="just">
              <a:spcBef>
                <a:spcPts val="300"/>
              </a:spcBef>
              <a:spcAft>
                <a:spcPts val="700"/>
              </a:spcAft>
              <a:buFont typeface="Arial" panose="020B0604020202020204" pitchFamily="34" charset="0"/>
              <a:buChar char="•"/>
            </a:pPr>
            <a:r>
              <a:rPr lang="en-US" sz="1250" b="1" dirty="0">
                <a:latin typeface="Arial" pitchFamily="34" charset="0"/>
                <a:cs typeface="Arial" pitchFamily="34" charset="0"/>
              </a:rPr>
              <a:t>How it addresses the problem: </a:t>
            </a:r>
            <a:r>
              <a:rPr lang="en-US" sz="1250" b="0" dirty="0">
                <a:latin typeface="Arial" pitchFamily="34" charset="0"/>
                <a:cs typeface="Arial" pitchFamily="34" charset="0"/>
              </a:rPr>
              <a:t>Nothing leaves MRPL's network; access is checked before retrieval; every answer cites its source document and page instead of guessing.</a:t>
            </a:r>
          </a:p>
          <a:p>
            <a:pPr marL="342900" indent="-342900" algn="just">
              <a:spcBef>
                <a:spcPts val="300"/>
              </a:spcBef>
              <a:spcAft>
                <a:spcPts val="700"/>
              </a:spcAft>
              <a:buFont typeface="Arial" panose="020B0604020202020204" pitchFamily="34" charset="0"/>
              <a:buChar char="•"/>
            </a:pPr>
            <a:r>
              <a:rPr lang="en-US" sz="1250" b="1" dirty="0">
                <a:latin typeface="Arial" pitchFamily="34" charset="0"/>
                <a:cs typeface="Arial" pitchFamily="34" charset="0"/>
              </a:rPr>
              <a:t>Innovation and uniqueness: </a:t>
            </a:r>
            <a:r>
              <a:rPr lang="en-US" sz="1250" b="0" dirty="0">
                <a:latin typeface="Arial" pitchFamily="34" charset="0"/>
                <a:cs typeface="Arial" pitchFamily="34" charset="0"/>
              </a:rPr>
              <a:t>Evidence-first (no citation, no answer), specialist agents instead of one generic chatbot, sovereign by design, and built to extend toward multimodal + multi-model routing.</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10" name="Oval 9" descr="Your startup LOGO">
            <a:extLst>
              <a:ext uri="{FF2B5EF4-FFF2-40B4-BE49-F238E27FC236}">
                <a16:creationId xmlns:a16="http://schemas.microsoft.com/office/drawing/2014/main" xmlns=""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Sparks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5363" name="Picture 15362" descr="concept.png"/>
          <p:cNvPicPr>
            <a:picLocks noChangeAspect="1"/>
          </p:cNvPicPr>
          <p:nvPr/>
        </p:nvPicPr>
        <p:blipFill>
          <a:blip r:embed="rId4"/>
          <a:stretch>
            <a:fillRect/>
          </a:stretch>
        </p:blipFill>
        <p:spPr>
          <a:xfrm>
            <a:off x="7086600" y="1325880"/>
            <a:ext cx="4617720" cy="3182112"/>
          </a:xfrm>
          <a:prstGeom prst="rect">
            <a:avLst/>
          </a:prstGeom>
        </p:spPr>
      </p:pic>
      <p:pic>
        <p:nvPicPr>
          <p:cNvPr id="15364" name="Picture 15363" descr="flow.png"/>
          <p:cNvPicPr>
            <a:picLocks noChangeAspect="1"/>
          </p:cNvPicPr>
          <p:nvPr/>
        </p:nvPicPr>
        <p:blipFill>
          <a:blip r:embed="rId5"/>
          <a:stretch>
            <a:fillRect/>
          </a:stretch>
        </p:blipFill>
        <p:spPr>
          <a:xfrm>
            <a:off x="704088" y="4754880"/>
            <a:ext cx="10789920" cy="143012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457200" y="1234440"/>
            <a:ext cx="3794760" cy="4206240"/>
          </a:xfrm>
          <a:prstGeom prst="rect">
            <a:avLst/>
          </a:prstGeom>
          <a:noFill/>
          <a:ln w="9525">
            <a:noFill/>
            <a:miter lim="800000"/>
            <a:headEnd/>
            <a:tailEnd/>
          </a:ln>
        </p:spPr>
        <p:txBody>
          <a:bodyPr wrap="square">
            <a:spAutoFit/>
          </a:bodyPr>
          <a:lstStyle/>
          <a:p>
            <a:pPr marL="342900" indent="-342900" algn="just">
              <a:spcBef>
                <a:spcPts val="300"/>
              </a:spcBef>
              <a:spcAft>
                <a:spcPts val="900"/>
              </a:spcAft>
              <a:buFont typeface="Arial" panose="020B0604020202020204" pitchFamily="34" charset="0"/>
              <a:buChar char="•"/>
            </a:pPr>
            <a:r>
              <a:rPr lang="en-US" sz="1200" b="1" dirty="0">
                <a:latin typeface="Arial" pitchFamily="34" charset="0"/>
                <a:cs typeface="Arial" pitchFamily="34" charset="0"/>
              </a:rPr>
              <a:t>Frontend &amp; orchestration: </a:t>
            </a:r>
            <a:r>
              <a:rPr lang="en-US" sz="1200" b="0" dirty="0">
                <a:latin typeface="Arial" pitchFamily="34" charset="0"/>
                <a:cs typeface="Arial" pitchFamily="34" charset="0"/>
              </a:rPr>
              <a:t>React chat interface; orchestrator runs a TASK → PLAN → RETRIEVE → REASON → VERIFY → RESPOND pipeline across specialist agents (Maintenance, Safety, Inspection, Document Intelligence).</a:t>
            </a:r>
          </a:p>
          <a:p>
            <a:pPr marL="342900" indent="-342900" algn="just">
              <a:spcBef>
                <a:spcPts val="300"/>
              </a:spcBef>
              <a:spcAft>
                <a:spcPts val="900"/>
              </a:spcAft>
              <a:buFont typeface="Arial" panose="020B0604020202020204" pitchFamily="34" charset="0"/>
              <a:buChar char="•"/>
            </a:pPr>
            <a:r>
              <a:rPr lang="en-US" sz="1200" b="1" dirty="0">
                <a:latin typeface="Arial" pitchFamily="34" charset="0"/>
                <a:cs typeface="Arial" pitchFamily="34" charset="0"/>
              </a:rPr>
              <a:t>Local AI models: </a:t>
            </a:r>
            <a:r>
              <a:rPr lang="en-US" sz="1200" b="0" dirty="0">
                <a:latin typeface="Arial" pitchFamily="34" charset="0"/>
                <a:cs typeface="Arial" pitchFamily="34" charset="0"/>
              </a:rPr>
              <a:t>Qwen3-4B for reasoning + qwen3-embedding:0.6b for embeddings, served locally through Ollama — zero external API calls for core inference.</a:t>
            </a:r>
          </a:p>
          <a:p>
            <a:pPr marL="342900" indent="-342900" algn="just">
              <a:spcBef>
                <a:spcPts val="300"/>
              </a:spcBef>
              <a:spcAft>
                <a:spcPts val="900"/>
              </a:spcAft>
              <a:buFont typeface="Arial" panose="020B0604020202020204" pitchFamily="34" charset="0"/>
              <a:buChar char="•"/>
            </a:pPr>
            <a:r>
              <a:rPr lang="en-US" sz="1200" b="1" dirty="0">
                <a:latin typeface="Arial" pitchFamily="34" charset="0"/>
                <a:cs typeface="Arial" pitchFamily="34" charset="0"/>
              </a:rPr>
              <a:t>Knowledge base &amp; RAG: </a:t>
            </a:r>
            <a:r>
              <a:rPr lang="en-US" sz="1200" b="0" dirty="0">
                <a:latin typeface="Arial" pitchFamily="34" charset="0"/>
                <a:cs typeface="Arial" pitchFamily="34" charset="0"/>
              </a:rPr>
              <a:t>Local PDF/DOCX/TXT pipeline → chunk → embed → SQLite-backed vector store → RBAC-filtered semantic retrieval before any chunk reaches the model.</a:t>
            </a:r>
          </a:p>
          <a:p>
            <a:pPr marL="342900" indent="-342900" algn="just">
              <a:spcBef>
                <a:spcPts val="300"/>
              </a:spcBef>
              <a:spcAft>
                <a:spcPts val="900"/>
              </a:spcAft>
              <a:buFont typeface="Arial" panose="020B0604020202020204" pitchFamily="34" charset="0"/>
              <a:buChar char="•"/>
            </a:pPr>
            <a:r>
              <a:rPr lang="en-US" sz="1200" b="1" dirty="0">
                <a:latin typeface="Arial" pitchFamily="34" charset="0"/>
                <a:cs typeface="Arial" pitchFamily="34" charset="0"/>
              </a:rPr>
              <a:t>Security: </a:t>
            </a:r>
            <a:r>
              <a:rPr lang="en-US" sz="1200" b="0" dirty="0">
                <a:latin typeface="Arial" pitchFamily="34" charset="0"/>
                <a:cs typeface="Arial" pitchFamily="34" charset="0"/>
              </a:rPr>
              <a:t>Corporate-ID login, scrypt password hashing, session-based Role-Based Access Control, full audit logging.</a:t>
            </a:r>
          </a:p>
          <a:p>
            <a:pPr marL="342900" indent="-342900" algn="just">
              <a:spcBef>
                <a:spcPts val="300"/>
              </a:spcBef>
              <a:spcAft>
                <a:spcPts val="900"/>
              </a:spcAft>
              <a:buFont typeface="Arial" panose="020B0604020202020204" pitchFamily="34" charset="0"/>
              <a:buChar char="•"/>
            </a:pPr>
            <a:r>
              <a:rPr lang="en-US" sz="1200" b="1" dirty="0">
                <a:latin typeface="Arial" pitchFamily="34" charset="0"/>
                <a:cs typeface="Arial" pitchFamily="34" charset="0"/>
              </a:rPr>
              <a:t>Prototype flow: </a:t>
            </a:r>
            <a:r>
              <a:rPr lang="en-US" sz="1200" b="0" dirty="0">
                <a:latin typeface="Arial" pitchFamily="34" charset="0"/>
                <a:cs typeface="Arial" pitchFamily="34" charset="0"/>
              </a:rPr>
              <a:t>Login → Upload manual/SOP/report → Index → Ask → Retrieve (authorized only) → Answer with citation → Human review.</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11" name="Oval 10" descr="Your startup LOGO">
            <a:extLst>
              <a:ext uri="{FF2B5EF4-FFF2-40B4-BE49-F238E27FC236}">
                <a16:creationId xmlns:a16="http://schemas.microsoft.com/office/drawing/2014/main" xmlns=""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Sparks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7411" name="Picture 17410" descr="arch.png"/>
          <p:cNvPicPr>
            <a:picLocks noChangeAspect="1"/>
          </p:cNvPicPr>
          <p:nvPr/>
        </p:nvPicPr>
        <p:blipFill>
          <a:blip r:embed="rId4"/>
          <a:stretch>
            <a:fillRect/>
          </a:stretch>
        </p:blipFill>
        <p:spPr>
          <a:xfrm>
            <a:off x="4480560" y="1207008"/>
            <a:ext cx="7251192" cy="3931920"/>
          </a:xfrm>
          <a:prstGeom prst="rect">
            <a:avLst/>
          </a:prstGeom>
        </p:spPr>
      </p:pic>
      <p:sp>
        <p:nvSpPr>
          <p:cNvPr id="17412" name="TextBox 17411"/>
          <p:cNvSpPr txBox="1"/>
          <p:nvPr/>
        </p:nvSpPr>
        <p:spPr>
          <a:xfrm>
            <a:off x="4480560" y="5230368"/>
            <a:ext cx="7251192" cy="777240"/>
          </a:xfrm>
          <a:prstGeom prst="rect">
            <a:avLst/>
          </a:prstGeom>
          <a:noFill/>
        </p:spPr>
        <p:txBody>
          <a:bodyPr wrap="square">
            <a:spAutoFit/>
          </a:bodyPr>
          <a:lstStyle/>
          <a:p>
            <a:r>
              <a:rPr sz="1100" i="1">
                <a:solidFill>
                  <a:srgbClr val="3B4A56"/>
                </a:solidFill>
              </a:rPr>
              <a:t>Every layer runs on MRPL's own hardware. A new open-weight model is added by registering it with the Model Router — a registry entry, not a redesign — and the blocked-egress strip is what the demo proves with a live network monitor.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457200" y="1572768"/>
            <a:ext cx="5212080" cy="393192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spcBef>
                <a:spcPts val="300"/>
              </a:spcBef>
              <a:spcAft>
                <a:spcPts val="1200"/>
              </a:spcAft>
              <a:buClrTx/>
              <a:buSzTx/>
              <a:buFont typeface="Arial" panose="020B0604020202020204" pitchFamily="34" charset="0"/>
              <a:buChar char="•"/>
              <a:tabLst/>
              <a:defRPr/>
            </a:pPr>
            <a:r>
              <a:rPr lang="en-US" sz="1350" b="1" dirty="0">
                <a:solidFill>
                  <a:prstClr val="black"/>
                </a:solidFill>
                <a:latin typeface="Arial" pitchFamily="34" charset="0"/>
                <a:cs typeface="Arial" pitchFamily="34" charset="0"/>
              </a:rPr>
              <a:t>Feasibility: </a:t>
            </a:r>
            <a:r>
              <a:rPr lang="en-US" sz="1350" b="0" dirty="0">
                <a:solidFill>
                  <a:prstClr val="black"/>
                </a:solidFill>
                <a:latin typeface="Arial" pitchFamily="34" charset="0"/>
                <a:cs typeface="Arial" pitchFamily="34" charset="0"/>
              </a:rPr>
              <a:t>Pure software on MRPL's existing on-premise infrastructure; MRPL's SAP landscape already runs on S/4HANA and its SAP data center holds ISO 27001:2013 certification, so a secure on-prem hosting environment already exists.</a:t>
            </a:r>
          </a:p>
          <a:p>
            <a:pPr marL="342900" marR="0" lvl="0" indent="-342900" algn="just" defTabSz="457200" rtl="0" eaLnBrk="1" fontAlgn="base" latinLnBrk="0" hangingPunct="1">
              <a:spcBef>
                <a:spcPts val="300"/>
              </a:spcBef>
              <a:spcAft>
                <a:spcPts val="1200"/>
              </a:spcAft>
              <a:buClrTx/>
              <a:buSzTx/>
              <a:buFont typeface="Arial" panose="020B0604020202020204" pitchFamily="34" charset="0"/>
              <a:buChar char="•"/>
              <a:tabLst/>
              <a:defRPr/>
            </a:pPr>
            <a:r>
              <a:rPr lang="en-US" sz="1350" b="1" dirty="0">
                <a:solidFill>
                  <a:prstClr val="black"/>
                </a:solidFill>
                <a:latin typeface="Arial" pitchFamily="34" charset="0"/>
                <a:cs typeface="Arial" pitchFamily="34" charset="0"/>
              </a:rPr>
              <a:t>Risk — wrong answers: </a:t>
            </a:r>
            <a:r>
              <a:rPr lang="en-US" sz="1350" b="0" dirty="0">
                <a:solidFill>
                  <a:prstClr val="black"/>
                </a:solidFill>
                <a:latin typeface="Arial" pitchFamily="34" charset="0"/>
                <a:cs typeface="Arial" pitchFamily="34" charset="0"/>
              </a:rPr>
              <a:t>Mitigated by evidence-first design: every answer must cite a real source, or the system says “not enough evidence.”</a:t>
            </a:r>
          </a:p>
          <a:p>
            <a:pPr marL="342900" marR="0" lvl="0" indent="-342900" algn="just" defTabSz="457200" rtl="0" eaLnBrk="1" fontAlgn="base" latinLnBrk="0" hangingPunct="1">
              <a:spcBef>
                <a:spcPts val="300"/>
              </a:spcBef>
              <a:spcAft>
                <a:spcPts val="1200"/>
              </a:spcAft>
              <a:buClrTx/>
              <a:buSzTx/>
              <a:buFont typeface="Arial" panose="020B0604020202020204" pitchFamily="34" charset="0"/>
              <a:buChar char="•"/>
              <a:tabLst/>
              <a:defRPr/>
            </a:pPr>
            <a:r>
              <a:rPr lang="en-US" sz="1350" b="1" dirty="0">
                <a:solidFill>
                  <a:prstClr val="black"/>
                </a:solidFill>
                <a:latin typeface="Arial" pitchFamily="34" charset="0"/>
                <a:cs typeface="Arial" pitchFamily="34" charset="0"/>
              </a:rPr>
              <a:t>Risk — limited local compute: </a:t>
            </a:r>
            <a:r>
              <a:rPr lang="en-US" sz="1350" b="0" dirty="0">
                <a:solidFill>
                  <a:prstClr val="black"/>
                </a:solidFill>
                <a:latin typeface="Arial" pitchFamily="34" charset="0"/>
                <a:cs typeface="Arial" pitchFamily="34" charset="0"/>
              </a:rPr>
              <a:t>Use small, task-specific models (4B-class) instead of one giant model; start with one document type and one agent, expand later.</a:t>
            </a:r>
          </a:p>
          <a:p>
            <a:pPr marL="342900" marR="0" lvl="0" indent="-342900" algn="just" defTabSz="457200" rtl="0" eaLnBrk="1" fontAlgn="base" latinLnBrk="0" hangingPunct="1">
              <a:spcBef>
                <a:spcPts val="300"/>
              </a:spcBef>
              <a:spcAft>
                <a:spcPts val="1200"/>
              </a:spcAft>
              <a:buClrTx/>
              <a:buSzTx/>
              <a:buFont typeface="Arial" panose="020B0604020202020204" pitchFamily="34" charset="0"/>
              <a:buChar char="•"/>
              <a:tabLst/>
              <a:defRPr/>
            </a:pPr>
            <a:r>
              <a:rPr lang="en-US" sz="1350" b="1" dirty="0">
                <a:solidFill>
                  <a:prstClr val="black"/>
                </a:solidFill>
                <a:latin typeface="Arial" pitchFamily="34" charset="0"/>
                <a:cs typeface="Arial" pitchFamily="34" charset="0"/>
              </a:rPr>
              <a:t>Risk — messy formats &amp; over-trust: </a:t>
            </a:r>
            <a:r>
              <a:rPr lang="en-US" sz="1350" b="0" dirty="0">
                <a:solidFill>
                  <a:prstClr val="black"/>
                </a:solidFill>
                <a:latin typeface="Arial" pitchFamily="34" charset="0"/>
                <a:cs typeface="Arial" pitchFamily="34" charset="0"/>
              </a:rPr>
              <a:t>One extraction pipeline handles PDFs/scans before analysis; a human always reviews and signs off before any output is used.</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xmlns=""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Sparks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7411" name="Picture 17410" descr="risks.png"/>
          <p:cNvPicPr>
            <a:picLocks noChangeAspect="1"/>
          </p:cNvPicPr>
          <p:nvPr/>
        </p:nvPicPr>
        <p:blipFill>
          <a:blip r:embed="rId4"/>
          <a:stretch>
            <a:fillRect/>
          </a:stretch>
        </p:blipFill>
        <p:spPr>
          <a:xfrm>
            <a:off x="5760720" y="1572768"/>
            <a:ext cx="5943600" cy="382127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457200" y="1325880"/>
            <a:ext cx="11247120" cy="192024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spcBef>
                <a:spcPts val="300"/>
              </a:spcBef>
              <a:spcAft>
                <a:spcPts val="9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Who benefits: </a:t>
            </a:r>
            <a:r>
              <a:rPr kumimoji="0" lang="en-US" sz="13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Engineers, maintenance teams, safety officers and technical staff who currently search manuals and reports by hand.</a:t>
            </a:r>
          </a:p>
          <a:p>
            <a:pPr marL="342900" marR="0" lvl="0" indent="-342900" algn="just" defTabSz="457200" rtl="0" eaLnBrk="1" fontAlgn="base" latinLnBrk="0" hangingPunct="1">
              <a:spcBef>
                <a:spcPts val="300"/>
              </a:spcBef>
              <a:spcAft>
                <a:spcPts val="9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Time &amp; trust: </a:t>
            </a:r>
            <a:r>
              <a:rPr kumimoji="0" lang="en-US" sz="13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Hours of manual document searching reduced to minutes, with evidence-backed answers people can verify.</a:t>
            </a:r>
          </a:p>
          <a:p>
            <a:pPr marL="342900" marR="0" lvl="0" indent="-342900" algn="just" defTabSz="457200" rtl="0" eaLnBrk="1" fontAlgn="base" latinLnBrk="0" hangingPunct="1">
              <a:spcBef>
                <a:spcPts val="300"/>
              </a:spcBef>
              <a:spcAft>
                <a:spcPts val="9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Confidentiality &amp; compliance: </a:t>
            </a:r>
            <a:r>
              <a:rPr kumimoji="0" lang="en-US" sz="13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Nothing leaves MRPL's systems, removing the incentive to paste sensitive data into public AI tools.</a:t>
            </a:r>
          </a:p>
          <a:p>
            <a:pPr marL="342900" marR="0" lvl="0" indent="-342900" algn="just" defTabSz="457200" rtl="0" eaLnBrk="1" fontAlgn="base" latinLnBrk="0" hangingPunct="1">
              <a:spcBef>
                <a:spcPts val="300"/>
              </a:spcBef>
              <a:spcAft>
                <a:spcPts val="90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Bigger picture: </a:t>
            </a:r>
            <a:r>
              <a:rPr kumimoji="0" lang="en-US" sz="13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A reusable blueprint for how any sensitive Indian industry — power, defence, pharma, manufacturing — can adopt AI without depending on foreign cloud providers.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xmlns=""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Sparks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7411" name="Picture 17410" descr="impact.png"/>
          <p:cNvPicPr>
            <a:picLocks noChangeAspect="1"/>
          </p:cNvPicPr>
          <p:nvPr/>
        </p:nvPicPr>
        <p:blipFill>
          <a:blip r:embed="rId4"/>
          <a:stretch>
            <a:fillRect/>
          </a:stretch>
        </p:blipFill>
        <p:spPr>
          <a:xfrm>
            <a:off x="566928" y="3127248"/>
            <a:ext cx="11064240" cy="2973628"/>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2795263"/>
            <a:ext cx="9385300" cy="52322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spcBef>
                <a:spcPts val="300"/>
              </a:spcBef>
              <a:spcAft>
                <a:spcPct val="0"/>
              </a:spcAft>
              <a:buClrTx/>
              <a:buSzTx/>
              <a:buFont typeface="Arial" panose="020B0604020202020204" pitchFamily="34" charset="0"/>
              <a:buChar char="•"/>
              <a:tabLst/>
              <a:defRPr/>
            </a:pPr>
            <a:r>
              <a:rPr lang="en-US" sz="1400" b="0" noProof="0" dirty="0">
                <a:solidFill>
                  <a:prstClr val="black"/>
                </a:solidFill>
                <a:latin typeface="Arial" pitchFamily="34" charset="0"/>
                <a:cs typeface="Arial" pitchFamily="34" charset="0"/>
              </a:rPr>
              <a:t>MRPL RTI Information Manual (mrpl.co.in/rti-act) — categories of restricted vs. public MRPL documentation.</a:t>
            </a:r>
          </a:p>
          <a:p>
            <a:pPr marL="342900" marR="0" lvl="0" indent="-342900" algn="just" defTabSz="457200" rtl="0" eaLnBrk="1" fontAlgn="base" latinLnBrk="0" hangingPunct="1">
              <a:spcBef>
                <a:spcPts val="300"/>
              </a:spcBef>
              <a:spcAft>
                <a:spcPct val="0"/>
              </a:spcAft>
              <a:buClrTx/>
              <a:buSzTx/>
              <a:buFont typeface="Arial" panose="020B0604020202020204" pitchFamily="34" charset="0"/>
              <a:buChar char="•"/>
              <a:tabLst/>
              <a:defRPr/>
            </a:pPr>
            <a:r>
              <a:rPr lang="en-US" sz="1400" b="0" noProof="0" dirty="0">
                <a:solidFill>
                  <a:prstClr val="black"/>
                </a:solidFill>
                <a:latin typeface="Arial" pitchFamily="34" charset="0"/>
                <a:cs typeface="Arial" pitchFamily="34" charset="0"/>
              </a:rPr>
              <a:t>MRPL Record Retention Policy &amp; Policy for Preservation of Documents (mrpl.co.in/Policies) — real records categories (engineering, safety, statutory).</a:t>
            </a:r>
          </a:p>
          <a:p>
            <a:pPr marL="342900" marR="0" lvl="0" indent="-342900" algn="just" defTabSz="457200" rtl="0" eaLnBrk="1" fontAlgn="base" latinLnBrk="0" hangingPunct="1">
              <a:spcBef>
                <a:spcPts val="300"/>
              </a:spcBef>
              <a:spcAft>
                <a:spcPct val="0"/>
              </a:spcAft>
              <a:buClrTx/>
              <a:buSzTx/>
              <a:buFont typeface="Arial" panose="020B0604020202020204" pitchFamily="34" charset="0"/>
              <a:buChar char="•"/>
              <a:tabLst/>
              <a:defRPr/>
            </a:pPr>
            <a:r>
              <a:rPr lang="en-US" sz="1400" b="0" noProof="0" dirty="0">
                <a:solidFill>
                  <a:prstClr val="black"/>
                </a:solidFill>
                <a:latin typeface="Arial" pitchFamily="34" charset="0"/>
                <a:cs typeface="Arial" pitchFamily="34" charset="0"/>
              </a:rPr>
              <a:t>MRPL Annual Report — confirms MRPL's SAP landscape has migrated to S/4HANA and its SAP data center holds ISO 27001:2013 certification.</a:t>
            </a:r>
          </a:p>
          <a:p>
            <a:pPr marL="342900" marR="0" lvl="0" indent="-342900" algn="just" defTabSz="457200" rtl="0" eaLnBrk="1" fontAlgn="base" latinLnBrk="0" hangingPunct="1">
              <a:spcBef>
                <a:spcPts val="300"/>
              </a:spcBef>
              <a:spcAft>
                <a:spcPct val="0"/>
              </a:spcAft>
              <a:buClrTx/>
              <a:buSzTx/>
              <a:buFont typeface="Arial" panose="020B0604020202020204" pitchFamily="34" charset="0"/>
              <a:buChar char="•"/>
              <a:tabLst/>
              <a:defRPr/>
            </a:pPr>
            <a:r>
              <a:rPr lang="en-US" sz="1400" b="0" noProof="0" dirty="0">
                <a:solidFill>
                  <a:prstClr val="black"/>
                </a:solidFill>
                <a:latin typeface="Arial" pitchFamily="34" charset="0"/>
                <a:cs typeface="Arial" pitchFamily="34" charset="0"/>
              </a:rPr>
              <a:t>Official SIH 2026 Problem Statement SIH26117.</a:t>
            </a:r>
          </a:p>
          <a:p>
            <a:pPr marL="342900" marR="0" lvl="0" indent="-342900" algn="just" defTabSz="457200" rtl="0" eaLnBrk="1" fontAlgn="base" latinLnBrk="0" hangingPunct="1">
              <a:spcBef>
                <a:spcPts val="300"/>
              </a:spcBef>
              <a:spcAft>
                <a:spcPct val="0"/>
              </a:spcAft>
              <a:buClrTx/>
              <a:buSzTx/>
              <a:buFont typeface="Arial" panose="020B0604020202020204" pitchFamily="34" charset="0"/>
              <a:buChar char="•"/>
              <a:tabLst/>
              <a:defRPr/>
            </a:pPr>
            <a:r>
              <a:rPr lang="en-US" sz="1400" b="0" noProof="0" dirty="0">
                <a:solidFill>
                  <a:prstClr val="black"/>
                </a:solidFill>
                <a:latin typeface="Arial" pitchFamily="34" charset="0"/>
                <a:cs typeface="Arial" pitchFamily="34" charset="0"/>
              </a:rPr>
              <a:t>Background research: open-weight multimodal LLMs, RAG, agentic AI, on-premise/local LLM deployment (Ollama, Qwen3).</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9" name="Oval 8" descr="Your startup LOGO">
            <a:extLst>
              <a:ext uri="{FF2B5EF4-FFF2-40B4-BE49-F238E27FC236}">
                <a16:creationId xmlns:a16="http://schemas.microsoft.com/office/drawing/2014/main" xmlns=""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Sparks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7507</TotalTime>
  <Words>919</Words>
  <Application>Microsoft Office PowerPoint</Application>
  <PresentationFormat>Custom</PresentationFormat>
  <Paragraphs>57</Paragraphs>
  <Slides>6</Slides>
  <Notes>5</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SMART INDIA HACKATHON 2026</vt:lpstr>
      <vt:lpstr> INDUS-AI — A Sovereign AI Colleague for MRPL’s Confidential Industrial Work</vt:lpstr>
      <vt:lpstr>TECHNICAL APPROACH</vt:lpstr>
      <vt:lpstr>FEASIBILITY AND VIABILITY</vt:lpstr>
      <vt:lpstr>IMPACT AND BENEFITS</vt:lpstr>
      <vt:lpstr>RESEARCH  AND REFERENCES</vt:lpstr>
    </vt:vector>
  </TitlesOfParts>
  <Company>Crowdfunder, Inc.</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Dell</cp:lastModifiedBy>
  <cp:revision>150</cp:revision>
  <dcterms:created xsi:type="dcterms:W3CDTF">2013-12-12T18:46:50Z</dcterms:created>
  <dcterms:modified xsi:type="dcterms:W3CDTF">2026-08-31T07:13:14Z</dcterms:modified>
</cp:coreProperties>
</file>