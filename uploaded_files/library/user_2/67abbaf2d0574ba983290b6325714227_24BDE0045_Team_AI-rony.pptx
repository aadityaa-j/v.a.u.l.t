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8" r:id="rId3"/>
    <p:sldId id="299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7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400A68-2CCD-4B13-8B98-29A88A5D02DD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7F2D62F9-F733-43A4-874C-49CF1B170D76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DATA SOVEREIGNTY</a:t>
          </a:r>
          <a:endParaRPr lang="en-IN" sz="1200" dirty="0"/>
        </a:p>
      </dgm:t>
    </dgm:pt>
    <dgm:pt modelId="{61FDEAE2-4FE4-44A5-AC69-E662DA9A5ADC}" type="parTrans" cxnId="{B9C180E7-5F80-4752-ADD8-FFF9BA35A101}">
      <dgm:prSet/>
      <dgm:spPr/>
      <dgm:t>
        <a:bodyPr/>
        <a:lstStyle/>
        <a:p>
          <a:endParaRPr lang="en-IN"/>
        </a:p>
      </dgm:t>
    </dgm:pt>
    <dgm:pt modelId="{7F6701EA-4EBC-44C4-9F2E-F68249C16ACA}" type="sibTrans" cxnId="{B9C180E7-5F80-4752-ADD8-FFF9BA35A101}">
      <dgm:prSet/>
      <dgm:spPr/>
      <dgm:t>
        <a:bodyPr/>
        <a:lstStyle/>
        <a:p>
          <a:endParaRPr lang="en-IN"/>
        </a:p>
      </dgm:t>
    </dgm:pt>
    <dgm:pt modelId="{5FB91F2D-42A1-4E33-8C27-3D9C7B24BB4F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MULTIMODAL INPUT</a:t>
          </a:r>
          <a:endParaRPr lang="en-IN" sz="1200" dirty="0"/>
        </a:p>
      </dgm:t>
    </dgm:pt>
    <dgm:pt modelId="{2D1DAF20-E301-46A1-95CE-4EEF9F5128C6}" type="parTrans" cxnId="{A5D21927-141D-4449-9265-0F8596D066DD}">
      <dgm:prSet/>
      <dgm:spPr/>
      <dgm:t>
        <a:bodyPr/>
        <a:lstStyle/>
        <a:p>
          <a:endParaRPr lang="en-IN"/>
        </a:p>
      </dgm:t>
    </dgm:pt>
    <dgm:pt modelId="{DA528BF4-B78F-4D4D-8782-61C945F11B6A}" type="sibTrans" cxnId="{A5D21927-141D-4449-9265-0F8596D066DD}">
      <dgm:prSet/>
      <dgm:spPr/>
      <dgm:t>
        <a:bodyPr/>
        <a:lstStyle/>
        <a:p>
          <a:endParaRPr lang="en-IN"/>
        </a:p>
      </dgm:t>
    </dgm:pt>
    <dgm:pt modelId="{5ECBBB90-5466-4D8A-8FE6-B460F2E913F2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AGENTIC EXECUTION</a:t>
          </a:r>
          <a:endParaRPr lang="en-IN" sz="1200" dirty="0"/>
        </a:p>
      </dgm:t>
    </dgm:pt>
    <dgm:pt modelId="{28C1127D-17AD-4D14-925F-0D87960B0D81}" type="parTrans" cxnId="{5E9EB0EC-59B0-4DE3-B116-859709D14050}">
      <dgm:prSet/>
      <dgm:spPr/>
      <dgm:t>
        <a:bodyPr/>
        <a:lstStyle/>
        <a:p>
          <a:endParaRPr lang="en-IN"/>
        </a:p>
      </dgm:t>
    </dgm:pt>
    <dgm:pt modelId="{9DE50C63-F43F-46E8-A83B-C92D81A84C19}" type="sibTrans" cxnId="{5E9EB0EC-59B0-4DE3-B116-859709D14050}">
      <dgm:prSet/>
      <dgm:spPr/>
      <dgm:t>
        <a:bodyPr/>
        <a:lstStyle/>
        <a:p>
          <a:endParaRPr lang="en-IN"/>
        </a:p>
      </dgm:t>
    </dgm:pt>
    <dgm:pt modelId="{210C872A-3041-4BB9-806F-27A241CA13AA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REAL DELIVERABLES </a:t>
          </a:r>
          <a:endParaRPr lang="en-IN" sz="1200" dirty="0"/>
        </a:p>
      </dgm:t>
    </dgm:pt>
    <dgm:pt modelId="{427350D3-D6AD-4765-9093-FC02FA9C65F9}" type="parTrans" cxnId="{0D683710-7AFC-4F64-8B6F-11E9FB3886A9}">
      <dgm:prSet/>
      <dgm:spPr/>
      <dgm:t>
        <a:bodyPr/>
        <a:lstStyle/>
        <a:p>
          <a:endParaRPr lang="en-IN"/>
        </a:p>
      </dgm:t>
    </dgm:pt>
    <dgm:pt modelId="{D1329DD3-1C2D-47A9-86F5-1FC30DFC6512}" type="sibTrans" cxnId="{0D683710-7AFC-4F64-8B6F-11E9FB3886A9}">
      <dgm:prSet/>
      <dgm:spPr/>
      <dgm:t>
        <a:bodyPr/>
        <a:lstStyle/>
        <a:p>
          <a:endParaRPr lang="en-IN"/>
        </a:p>
      </dgm:t>
    </dgm:pt>
    <dgm:pt modelId="{EC9C114B-4A70-4352-A6BA-54BCC01955EC}">
      <dgm:prSet/>
      <dgm:spPr/>
      <dgm:t>
        <a:bodyPr/>
        <a:lstStyle/>
        <a:p>
          <a:pPr>
            <a:buNone/>
          </a:pPr>
          <a:r>
            <a:rPr lang="en-IN" dirty="0">
              <a:latin typeface="Arial" panose="020B0604020202020204" pitchFamily="34" charset="0"/>
              <a:cs typeface="Arial" panose="020B0604020202020204" pitchFamily="34" charset="0"/>
            </a:rPr>
            <a:t>Air-gapped, on-premise</a:t>
          </a:r>
          <a:endParaRPr lang="en-IN" dirty="0"/>
        </a:p>
      </dgm:t>
    </dgm:pt>
    <dgm:pt modelId="{B7E36D7A-286F-40DB-A4DC-5F25A65795EC}" type="parTrans" cxnId="{926C6C1A-B80C-4041-BF6D-7B58509843E6}">
      <dgm:prSet/>
      <dgm:spPr/>
      <dgm:t>
        <a:bodyPr/>
        <a:lstStyle/>
        <a:p>
          <a:endParaRPr lang="en-IN"/>
        </a:p>
      </dgm:t>
    </dgm:pt>
    <dgm:pt modelId="{C0B825CD-DF88-4510-B70C-41D672ABFF1D}" type="sibTrans" cxnId="{926C6C1A-B80C-4041-BF6D-7B58509843E6}">
      <dgm:prSet/>
      <dgm:spPr/>
      <dgm:t>
        <a:bodyPr/>
        <a:lstStyle/>
        <a:p>
          <a:endParaRPr lang="en-IN"/>
        </a:p>
      </dgm:t>
    </dgm:pt>
    <dgm:pt modelId="{FBFAA172-D239-4526-85A1-C97099C9EEE2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IN" dirty="0"/>
            <a:t>PDFs • Scans • Images • P&amp;IDs</a:t>
          </a:r>
        </a:p>
      </dgm:t>
    </dgm:pt>
    <dgm:pt modelId="{6E1828FF-C977-44C4-91AA-AA3495BD6501}" type="parTrans" cxnId="{01B6B65A-FB54-4FA7-A981-BCB4CAF5ABDD}">
      <dgm:prSet/>
      <dgm:spPr/>
      <dgm:t>
        <a:bodyPr/>
        <a:lstStyle/>
        <a:p>
          <a:endParaRPr lang="en-IN"/>
        </a:p>
      </dgm:t>
    </dgm:pt>
    <dgm:pt modelId="{2F8E2D90-4159-401A-9F87-FCDA2BFEBE9E}" type="sibTrans" cxnId="{01B6B65A-FB54-4FA7-A981-BCB4CAF5ABDD}">
      <dgm:prSet/>
      <dgm:spPr/>
      <dgm:t>
        <a:bodyPr/>
        <a:lstStyle/>
        <a:p>
          <a:endParaRPr lang="en-IN"/>
        </a:p>
      </dgm:t>
    </dgm:pt>
    <dgm:pt modelId="{A62CAA4E-D474-40F4-938F-DCA85F8C1D95}">
      <dgm:prSet/>
      <dgm:spPr/>
      <dgm:t>
        <a:bodyPr/>
        <a:lstStyle/>
        <a:p>
          <a:pPr>
            <a:buNone/>
          </a:pPr>
          <a:r>
            <a:rPr lang="en-IN" dirty="0"/>
            <a:t>Task-aware Model Routing • Local</a:t>
          </a:r>
        </a:p>
      </dgm:t>
    </dgm:pt>
    <dgm:pt modelId="{0F72F9DE-E4E1-46A2-A945-AF102CD959B3}" type="parTrans" cxnId="{BCBAA505-C724-4900-80FE-6F2302E7B9B8}">
      <dgm:prSet/>
      <dgm:spPr/>
      <dgm:t>
        <a:bodyPr/>
        <a:lstStyle/>
        <a:p>
          <a:endParaRPr lang="en-IN"/>
        </a:p>
      </dgm:t>
    </dgm:pt>
    <dgm:pt modelId="{FABC4E70-052C-45CC-B73A-D0EF2E448956}" type="sibTrans" cxnId="{BCBAA505-C724-4900-80FE-6F2302E7B9B8}">
      <dgm:prSet/>
      <dgm:spPr/>
      <dgm:t>
        <a:bodyPr/>
        <a:lstStyle/>
        <a:p>
          <a:endParaRPr lang="en-IN"/>
        </a:p>
      </dgm:t>
    </dgm:pt>
    <dgm:pt modelId="{A65CB98C-BC1A-4AB0-B48A-A0B41142CB7D}">
      <dgm:prSet/>
      <dgm:spPr/>
      <dgm:t>
        <a:bodyPr/>
        <a:lstStyle/>
        <a:p>
          <a:pPr>
            <a:buNone/>
          </a:pPr>
          <a:r>
            <a:rPr lang="en-IN" dirty="0"/>
            <a:t>Reports • Calculations • Code</a:t>
          </a:r>
        </a:p>
      </dgm:t>
    </dgm:pt>
    <dgm:pt modelId="{D157AB30-3A23-490E-B847-6B261963FE0B}" type="parTrans" cxnId="{5D5FCC1C-011C-44C9-B991-BCCBFE7524C4}">
      <dgm:prSet/>
      <dgm:spPr/>
      <dgm:t>
        <a:bodyPr/>
        <a:lstStyle/>
        <a:p>
          <a:endParaRPr lang="en-IN"/>
        </a:p>
      </dgm:t>
    </dgm:pt>
    <dgm:pt modelId="{98BFD4DF-ACC3-4FA1-AA56-35316322C1A7}" type="sibTrans" cxnId="{5D5FCC1C-011C-44C9-B991-BCCBFE7524C4}">
      <dgm:prSet/>
      <dgm:spPr/>
      <dgm:t>
        <a:bodyPr/>
        <a:lstStyle/>
        <a:p>
          <a:endParaRPr lang="en-IN"/>
        </a:p>
      </dgm:t>
    </dgm:pt>
    <dgm:pt modelId="{B1F891EB-F049-4EB0-87D9-F5FD9E2F3D41}">
      <dgm:prSet/>
      <dgm:spPr/>
      <dgm:t>
        <a:bodyPr/>
        <a:lstStyle/>
        <a:p>
          <a:pPr>
            <a:buNone/>
          </a:pPr>
          <a:r>
            <a:rPr lang="en-IN" dirty="0">
              <a:latin typeface="Arial" panose="020B0604020202020204" pitchFamily="34" charset="0"/>
              <a:cs typeface="Arial" panose="020B0604020202020204" pitchFamily="34" charset="0"/>
            </a:rPr>
            <a:t>Execution </a:t>
          </a:r>
          <a:endParaRPr lang="en-IN" dirty="0"/>
        </a:p>
      </dgm:t>
    </dgm:pt>
    <dgm:pt modelId="{E5FC7658-9BFD-48AA-975F-325B929F7B50}" type="parTrans" cxnId="{6FF35691-9421-4CC5-8FC1-9C9CC921B731}">
      <dgm:prSet/>
      <dgm:spPr/>
      <dgm:t>
        <a:bodyPr/>
        <a:lstStyle/>
        <a:p>
          <a:endParaRPr lang="en-IN"/>
        </a:p>
      </dgm:t>
    </dgm:pt>
    <dgm:pt modelId="{9541D322-CA58-4F69-96F1-05E2EE87ACC9}" type="sibTrans" cxnId="{6FF35691-9421-4CC5-8FC1-9C9CC921B731}">
      <dgm:prSet/>
      <dgm:spPr/>
      <dgm:t>
        <a:bodyPr/>
        <a:lstStyle/>
        <a:p>
          <a:endParaRPr lang="en-IN"/>
        </a:p>
      </dgm:t>
    </dgm:pt>
    <dgm:pt modelId="{43637B83-59A1-41C5-A7D9-72A4F50E0F9F}">
      <dgm:prSet/>
      <dgm:spPr/>
      <dgm:t>
        <a:bodyPr/>
        <a:lstStyle/>
        <a:p>
          <a:pPr>
            <a:buNone/>
          </a:pPr>
          <a:r>
            <a:rPr lang="en-IN" dirty="0"/>
            <a:t>• DOCX/XLSX/PPTX</a:t>
          </a:r>
        </a:p>
      </dgm:t>
    </dgm:pt>
    <dgm:pt modelId="{E9E4F62A-1BD8-42EE-97CF-E431E12E00EB}" type="parTrans" cxnId="{2521667C-9DC0-4154-9ABC-6F613BC55565}">
      <dgm:prSet/>
      <dgm:spPr/>
      <dgm:t>
        <a:bodyPr/>
        <a:lstStyle/>
        <a:p>
          <a:endParaRPr lang="en-IN"/>
        </a:p>
      </dgm:t>
    </dgm:pt>
    <dgm:pt modelId="{97BE92BF-B864-4C87-BAC4-12D14786FF47}" type="sibTrans" cxnId="{2521667C-9DC0-4154-9ABC-6F613BC55565}">
      <dgm:prSet/>
      <dgm:spPr/>
      <dgm:t>
        <a:bodyPr/>
        <a:lstStyle/>
        <a:p>
          <a:endParaRPr lang="en-IN"/>
        </a:p>
      </dgm:t>
    </dgm:pt>
    <dgm:pt modelId="{D4B80047-F23A-4ACB-BAFB-AC2DEA4F3D2F}">
      <dgm:prSet/>
      <dgm:spPr/>
      <dgm:t>
        <a:bodyPr/>
        <a:lstStyle/>
        <a:p>
          <a:pPr>
            <a:buNone/>
          </a:pPr>
          <a:r>
            <a:rPr lang="en-IN" dirty="0"/>
            <a:t>RAG • Tools</a:t>
          </a:r>
        </a:p>
      </dgm:t>
    </dgm:pt>
    <dgm:pt modelId="{3EAEF0E6-40E6-4BE5-9643-97D79E776F3D}" type="parTrans" cxnId="{8BFD105B-E311-4E6F-903A-2AC9A02B45C5}">
      <dgm:prSet/>
      <dgm:spPr/>
      <dgm:t>
        <a:bodyPr/>
        <a:lstStyle/>
        <a:p>
          <a:endParaRPr lang="en-IN"/>
        </a:p>
      </dgm:t>
    </dgm:pt>
    <dgm:pt modelId="{ED24186D-9160-4275-9A52-25EC1A21DB5D}" type="sibTrans" cxnId="{8BFD105B-E311-4E6F-903A-2AC9A02B45C5}">
      <dgm:prSet/>
      <dgm:spPr/>
      <dgm:t>
        <a:bodyPr/>
        <a:lstStyle/>
        <a:p>
          <a:endParaRPr lang="en-IN"/>
        </a:p>
      </dgm:t>
    </dgm:pt>
    <dgm:pt modelId="{B4C5FC4E-EBF7-42F5-880B-2933DDC173F5}" type="pres">
      <dgm:prSet presAssocID="{0A400A68-2CCD-4B13-8B98-29A88A5D02DD}" presName="Name0" presStyleCnt="0">
        <dgm:presLayoutVars>
          <dgm:dir/>
          <dgm:animLvl val="lvl"/>
          <dgm:resizeHandles val="exact"/>
        </dgm:presLayoutVars>
      </dgm:prSet>
      <dgm:spPr/>
    </dgm:pt>
    <dgm:pt modelId="{54C6898B-47D5-426B-9311-130DA0CEDF92}" type="pres">
      <dgm:prSet presAssocID="{7F2D62F9-F733-43A4-874C-49CF1B170D76}" presName="linNode" presStyleCnt="0"/>
      <dgm:spPr/>
    </dgm:pt>
    <dgm:pt modelId="{E0E7FCDC-385A-4BC4-913F-FD3B28BCBC72}" type="pres">
      <dgm:prSet presAssocID="{7F2D62F9-F733-43A4-874C-49CF1B170D76}" presName="parentText" presStyleLbl="node1" presStyleIdx="0" presStyleCnt="4" custLinFactNeighborY="-208">
        <dgm:presLayoutVars>
          <dgm:chMax val="1"/>
          <dgm:bulletEnabled val="1"/>
        </dgm:presLayoutVars>
      </dgm:prSet>
      <dgm:spPr/>
    </dgm:pt>
    <dgm:pt modelId="{C80FCE0E-FE90-46A8-AC49-AD73F0532145}" type="pres">
      <dgm:prSet presAssocID="{7F2D62F9-F733-43A4-874C-49CF1B170D76}" presName="descendantText" presStyleLbl="alignAccFollowNode1" presStyleIdx="0" presStyleCnt="4">
        <dgm:presLayoutVars>
          <dgm:bulletEnabled val="1"/>
        </dgm:presLayoutVars>
      </dgm:prSet>
      <dgm:spPr/>
    </dgm:pt>
    <dgm:pt modelId="{D042ABB6-9D5E-4CB1-84FF-3F453AE0C8B3}" type="pres">
      <dgm:prSet presAssocID="{7F6701EA-4EBC-44C4-9F2E-F68249C16ACA}" presName="sp" presStyleCnt="0"/>
      <dgm:spPr/>
    </dgm:pt>
    <dgm:pt modelId="{0838F375-74EF-4249-94F2-67BDB4D541BA}" type="pres">
      <dgm:prSet presAssocID="{5FB91F2D-42A1-4E33-8C27-3D9C7B24BB4F}" presName="linNode" presStyleCnt="0"/>
      <dgm:spPr/>
    </dgm:pt>
    <dgm:pt modelId="{DFD751A1-6318-4426-A089-8983E9EE208C}" type="pres">
      <dgm:prSet presAssocID="{5FB91F2D-42A1-4E33-8C27-3D9C7B24BB4F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88A1CFD-6213-450A-8B5E-0A2BBD31A3E4}" type="pres">
      <dgm:prSet presAssocID="{5FB91F2D-42A1-4E33-8C27-3D9C7B24BB4F}" presName="descendantText" presStyleLbl="alignAccFollowNode1" presStyleIdx="1" presStyleCnt="4">
        <dgm:presLayoutVars>
          <dgm:bulletEnabled val="1"/>
        </dgm:presLayoutVars>
      </dgm:prSet>
      <dgm:spPr/>
    </dgm:pt>
    <dgm:pt modelId="{A4B91CEB-1FEA-402C-A604-CE7E3BD623B7}" type="pres">
      <dgm:prSet presAssocID="{DA528BF4-B78F-4D4D-8782-61C945F11B6A}" presName="sp" presStyleCnt="0"/>
      <dgm:spPr/>
    </dgm:pt>
    <dgm:pt modelId="{56106639-C502-44B3-8559-D4138B7823DA}" type="pres">
      <dgm:prSet presAssocID="{5ECBBB90-5466-4D8A-8FE6-B460F2E913F2}" presName="linNode" presStyleCnt="0"/>
      <dgm:spPr/>
    </dgm:pt>
    <dgm:pt modelId="{1EE67857-D950-4F9C-B7A3-769B0F80FB1C}" type="pres">
      <dgm:prSet presAssocID="{5ECBBB90-5466-4D8A-8FE6-B460F2E913F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E0646A8-9065-4665-B4EC-FBC621FC60B3}" type="pres">
      <dgm:prSet presAssocID="{5ECBBB90-5466-4D8A-8FE6-B460F2E913F2}" presName="descendantText" presStyleLbl="alignAccFollowNode1" presStyleIdx="2" presStyleCnt="4">
        <dgm:presLayoutVars>
          <dgm:bulletEnabled val="1"/>
        </dgm:presLayoutVars>
      </dgm:prSet>
      <dgm:spPr/>
    </dgm:pt>
    <dgm:pt modelId="{6238D30F-2A21-489E-995B-AF8CA2452163}" type="pres">
      <dgm:prSet presAssocID="{9DE50C63-F43F-46E8-A83B-C92D81A84C19}" presName="sp" presStyleCnt="0"/>
      <dgm:spPr/>
    </dgm:pt>
    <dgm:pt modelId="{5A03BA3C-8C5C-435F-A7A9-07848DA124E8}" type="pres">
      <dgm:prSet presAssocID="{210C872A-3041-4BB9-806F-27A241CA13AA}" presName="linNode" presStyleCnt="0"/>
      <dgm:spPr/>
    </dgm:pt>
    <dgm:pt modelId="{84BBF62E-5A36-4FF8-A934-B510FDF57C5E}" type="pres">
      <dgm:prSet presAssocID="{210C872A-3041-4BB9-806F-27A241CA13AA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80E9D2E2-F7C2-404D-8F17-5D724DAC92A6}" type="pres">
      <dgm:prSet presAssocID="{210C872A-3041-4BB9-806F-27A241CA13AA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0BA87C02-0C63-4EF9-8B9F-7F4351ED4A5D}" type="presOf" srcId="{5ECBBB90-5466-4D8A-8FE6-B460F2E913F2}" destId="{1EE67857-D950-4F9C-B7A3-769B0F80FB1C}" srcOrd="0" destOrd="0" presId="urn:microsoft.com/office/officeart/2005/8/layout/vList5"/>
    <dgm:cxn modelId="{BCBAA505-C724-4900-80FE-6F2302E7B9B8}" srcId="{5ECBBB90-5466-4D8A-8FE6-B460F2E913F2}" destId="{A62CAA4E-D474-40F4-938F-DCA85F8C1D95}" srcOrd="0" destOrd="0" parTransId="{0F72F9DE-E4E1-46A2-A945-AF102CD959B3}" sibTransId="{FABC4E70-052C-45CC-B73A-D0EF2E448956}"/>
    <dgm:cxn modelId="{E8957A0C-DEE5-4B4E-A9C8-2231A5032573}" type="presOf" srcId="{0A400A68-2CCD-4B13-8B98-29A88A5D02DD}" destId="{B4C5FC4E-EBF7-42F5-880B-2933DDC173F5}" srcOrd="0" destOrd="0" presId="urn:microsoft.com/office/officeart/2005/8/layout/vList5"/>
    <dgm:cxn modelId="{05CA690D-D207-4F25-9BB2-A8B5BA5B07D7}" type="presOf" srcId="{5FB91F2D-42A1-4E33-8C27-3D9C7B24BB4F}" destId="{DFD751A1-6318-4426-A089-8983E9EE208C}" srcOrd="0" destOrd="0" presId="urn:microsoft.com/office/officeart/2005/8/layout/vList5"/>
    <dgm:cxn modelId="{0D683710-7AFC-4F64-8B6F-11E9FB3886A9}" srcId="{0A400A68-2CCD-4B13-8B98-29A88A5D02DD}" destId="{210C872A-3041-4BB9-806F-27A241CA13AA}" srcOrd="3" destOrd="0" parTransId="{427350D3-D6AD-4765-9093-FC02FA9C65F9}" sibTransId="{D1329DD3-1C2D-47A9-86F5-1FC30DFC6512}"/>
    <dgm:cxn modelId="{19EE7510-1DE6-4CB5-B329-33DE3BAC093A}" type="presOf" srcId="{B1F891EB-F049-4EB0-87D9-F5FD9E2F3D41}" destId="{C80FCE0E-FE90-46A8-AC49-AD73F0532145}" srcOrd="0" destOrd="1" presId="urn:microsoft.com/office/officeart/2005/8/layout/vList5"/>
    <dgm:cxn modelId="{926C6C1A-B80C-4041-BF6D-7B58509843E6}" srcId="{7F2D62F9-F733-43A4-874C-49CF1B170D76}" destId="{EC9C114B-4A70-4352-A6BA-54BCC01955EC}" srcOrd="0" destOrd="0" parTransId="{B7E36D7A-286F-40DB-A4DC-5F25A65795EC}" sibTransId="{C0B825CD-DF88-4510-B70C-41D672ABFF1D}"/>
    <dgm:cxn modelId="{5D5FCC1C-011C-44C9-B991-BCCBFE7524C4}" srcId="{210C872A-3041-4BB9-806F-27A241CA13AA}" destId="{A65CB98C-BC1A-4AB0-B48A-A0B41142CB7D}" srcOrd="0" destOrd="0" parTransId="{D157AB30-3A23-490E-B847-6B261963FE0B}" sibTransId="{98BFD4DF-ACC3-4FA1-AA56-35316322C1A7}"/>
    <dgm:cxn modelId="{A5D21927-141D-4449-9265-0F8596D066DD}" srcId="{0A400A68-2CCD-4B13-8B98-29A88A5D02DD}" destId="{5FB91F2D-42A1-4E33-8C27-3D9C7B24BB4F}" srcOrd="1" destOrd="0" parTransId="{2D1DAF20-E301-46A1-95CE-4EEF9F5128C6}" sibTransId="{DA528BF4-B78F-4D4D-8782-61C945F11B6A}"/>
    <dgm:cxn modelId="{28E10D36-3AB3-4B23-B5C9-9067469117F7}" type="presOf" srcId="{7F2D62F9-F733-43A4-874C-49CF1B170D76}" destId="{E0E7FCDC-385A-4BC4-913F-FD3B28BCBC72}" srcOrd="0" destOrd="0" presId="urn:microsoft.com/office/officeart/2005/8/layout/vList5"/>
    <dgm:cxn modelId="{8BFD105B-E311-4E6F-903A-2AC9A02B45C5}" srcId="{5ECBBB90-5466-4D8A-8FE6-B460F2E913F2}" destId="{D4B80047-F23A-4ACB-BAFB-AC2DEA4F3D2F}" srcOrd="1" destOrd="0" parTransId="{3EAEF0E6-40E6-4BE5-9643-97D79E776F3D}" sibTransId="{ED24186D-9160-4275-9A52-25EC1A21DB5D}"/>
    <dgm:cxn modelId="{8F7B9145-350B-40E1-A4DC-321E940F798F}" type="presOf" srcId="{FBFAA172-D239-4526-85A1-C97099C9EEE2}" destId="{988A1CFD-6213-450A-8B5E-0A2BBD31A3E4}" srcOrd="0" destOrd="0" presId="urn:microsoft.com/office/officeart/2005/8/layout/vList5"/>
    <dgm:cxn modelId="{C353D948-A48F-4A23-8537-0A69D11FD741}" type="presOf" srcId="{A65CB98C-BC1A-4AB0-B48A-A0B41142CB7D}" destId="{80E9D2E2-F7C2-404D-8F17-5D724DAC92A6}" srcOrd="0" destOrd="0" presId="urn:microsoft.com/office/officeart/2005/8/layout/vList5"/>
    <dgm:cxn modelId="{186B4B6F-33CD-4999-881D-40DAD256D733}" type="presOf" srcId="{A62CAA4E-D474-40F4-938F-DCA85F8C1D95}" destId="{BE0646A8-9065-4665-B4EC-FBC621FC60B3}" srcOrd="0" destOrd="0" presId="urn:microsoft.com/office/officeart/2005/8/layout/vList5"/>
    <dgm:cxn modelId="{01B6B65A-FB54-4FA7-A981-BCB4CAF5ABDD}" srcId="{5FB91F2D-42A1-4E33-8C27-3D9C7B24BB4F}" destId="{FBFAA172-D239-4526-85A1-C97099C9EEE2}" srcOrd="0" destOrd="0" parTransId="{6E1828FF-C977-44C4-91AA-AA3495BD6501}" sibTransId="{2F8E2D90-4159-401A-9F87-FCDA2BFEBE9E}"/>
    <dgm:cxn modelId="{2521667C-9DC0-4154-9ABC-6F613BC55565}" srcId="{210C872A-3041-4BB9-806F-27A241CA13AA}" destId="{43637B83-59A1-41C5-A7D9-72A4F50E0F9F}" srcOrd="1" destOrd="0" parTransId="{E9E4F62A-1BD8-42EE-97CF-E431E12E00EB}" sibTransId="{97BE92BF-B864-4C87-BAC4-12D14786FF47}"/>
    <dgm:cxn modelId="{5527297D-B6CB-45CF-8EE2-1BFDACEAD497}" type="presOf" srcId="{D4B80047-F23A-4ACB-BAFB-AC2DEA4F3D2F}" destId="{BE0646A8-9065-4665-B4EC-FBC621FC60B3}" srcOrd="0" destOrd="1" presId="urn:microsoft.com/office/officeart/2005/8/layout/vList5"/>
    <dgm:cxn modelId="{C39E1586-4D1D-4690-B7F6-275E1C1EBC3C}" type="presOf" srcId="{EC9C114B-4A70-4352-A6BA-54BCC01955EC}" destId="{C80FCE0E-FE90-46A8-AC49-AD73F0532145}" srcOrd="0" destOrd="0" presId="urn:microsoft.com/office/officeart/2005/8/layout/vList5"/>
    <dgm:cxn modelId="{6FF35691-9421-4CC5-8FC1-9C9CC921B731}" srcId="{7F2D62F9-F733-43A4-874C-49CF1B170D76}" destId="{B1F891EB-F049-4EB0-87D9-F5FD9E2F3D41}" srcOrd="1" destOrd="0" parTransId="{E5FC7658-9BFD-48AA-975F-325B929F7B50}" sibTransId="{9541D322-CA58-4F69-96F1-05E2EE87ACC9}"/>
    <dgm:cxn modelId="{1EEA78D0-74ED-4D16-B749-512EBA441287}" type="presOf" srcId="{43637B83-59A1-41C5-A7D9-72A4F50E0F9F}" destId="{80E9D2E2-F7C2-404D-8F17-5D724DAC92A6}" srcOrd="0" destOrd="1" presId="urn:microsoft.com/office/officeart/2005/8/layout/vList5"/>
    <dgm:cxn modelId="{54C0B3E2-9E81-4A5F-B32F-98EE8088DC4C}" type="presOf" srcId="{210C872A-3041-4BB9-806F-27A241CA13AA}" destId="{84BBF62E-5A36-4FF8-A934-B510FDF57C5E}" srcOrd="0" destOrd="0" presId="urn:microsoft.com/office/officeart/2005/8/layout/vList5"/>
    <dgm:cxn modelId="{B9C180E7-5F80-4752-ADD8-FFF9BA35A101}" srcId="{0A400A68-2CCD-4B13-8B98-29A88A5D02DD}" destId="{7F2D62F9-F733-43A4-874C-49CF1B170D76}" srcOrd="0" destOrd="0" parTransId="{61FDEAE2-4FE4-44A5-AC69-E662DA9A5ADC}" sibTransId="{7F6701EA-4EBC-44C4-9F2E-F68249C16ACA}"/>
    <dgm:cxn modelId="{5E9EB0EC-59B0-4DE3-B116-859709D14050}" srcId="{0A400A68-2CCD-4B13-8B98-29A88A5D02DD}" destId="{5ECBBB90-5466-4D8A-8FE6-B460F2E913F2}" srcOrd="2" destOrd="0" parTransId="{28C1127D-17AD-4D14-925F-0D87960B0D81}" sibTransId="{9DE50C63-F43F-46E8-A83B-C92D81A84C19}"/>
    <dgm:cxn modelId="{5B7D9999-C793-494D-878B-C787B5EB168D}" type="presParOf" srcId="{B4C5FC4E-EBF7-42F5-880B-2933DDC173F5}" destId="{54C6898B-47D5-426B-9311-130DA0CEDF92}" srcOrd="0" destOrd="0" presId="urn:microsoft.com/office/officeart/2005/8/layout/vList5"/>
    <dgm:cxn modelId="{C8D4792E-9BDA-475A-A326-07376AEBE000}" type="presParOf" srcId="{54C6898B-47D5-426B-9311-130DA0CEDF92}" destId="{E0E7FCDC-385A-4BC4-913F-FD3B28BCBC72}" srcOrd="0" destOrd="0" presId="urn:microsoft.com/office/officeart/2005/8/layout/vList5"/>
    <dgm:cxn modelId="{472E7115-860E-4649-80AF-AA9BB9E41C02}" type="presParOf" srcId="{54C6898B-47D5-426B-9311-130DA0CEDF92}" destId="{C80FCE0E-FE90-46A8-AC49-AD73F0532145}" srcOrd="1" destOrd="0" presId="urn:microsoft.com/office/officeart/2005/8/layout/vList5"/>
    <dgm:cxn modelId="{40A80E90-1132-4922-97C4-DECBA367ADDB}" type="presParOf" srcId="{B4C5FC4E-EBF7-42F5-880B-2933DDC173F5}" destId="{D042ABB6-9D5E-4CB1-84FF-3F453AE0C8B3}" srcOrd="1" destOrd="0" presId="urn:microsoft.com/office/officeart/2005/8/layout/vList5"/>
    <dgm:cxn modelId="{4AFFDF68-CD06-40DB-909E-7A012F36E415}" type="presParOf" srcId="{B4C5FC4E-EBF7-42F5-880B-2933DDC173F5}" destId="{0838F375-74EF-4249-94F2-67BDB4D541BA}" srcOrd="2" destOrd="0" presId="urn:microsoft.com/office/officeart/2005/8/layout/vList5"/>
    <dgm:cxn modelId="{5A8F50BE-10C7-4307-9ED2-7D114C9C4BC5}" type="presParOf" srcId="{0838F375-74EF-4249-94F2-67BDB4D541BA}" destId="{DFD751A1-6318-4426-A089-8983E9EE208C}" srcOrd="0" destOrd="0" presId="urn:microsoft.com/office/officeart/2005/8/layout/vList5"/>
    <dgm:cxn modelId="{9A1F3B0E-B22F-40EB-B7CB-BC735158E031}" type="presParOf" srcId="{0838F375-74EF-4249-94F2-67BDB4D541BA}" destId="{988A1CFD-6213-450A-8B5E-0A2BBD31A3E4}" srcOrd="1" destOrd="0" presId="urn:microsoft.com/office/officeart/2005/8/layout/vList5"/>
    <dgm:cxn modelId="{0A5BCD29-3AC3-408F-9840-01EDC4C2B4AD}" type="presParOf" srcId="{B4C5FC4E-EBF7-42F5-880B-2933DDC173F5}" destId="{A4B91CEB-1FEA-402C-A604-CE7E3BD623B7}" srcOrd="3" destOrd="0" presId="urn:microsoft.com/office/officeart/2005/8/layout/vList5"/>
    <dgm:cxn modelId="{45FB8DF9-9B16-4C5C-A392-45C5A0D1C7F8}" type="presParOf" srcId="{B4C5FC4E-EBF7-42F5-880B-2933DDC173F5}" destId="{56106639-C502-44B3-8559-D4138B7823DA}" srcOrd="4" destOrd="0" presId="urn:microsoft.com/office/officeart/2005/8/layout/vList5"/>
    <dgm:cxn modelId="{39631B6F-FA54-4457-B63B-DBBFDE0BBD31}" type="presParOf" srcId="{56106639-C502-44B3-8559-D4138B7823DA}" destId="{1EE67857-D950-4F9C-B7A3-769B0F80FB1C}" srcOrd="0" destOrd="0" presId="urn:microsoft.com/office/officeart/2005/8/layout/vList5"/>
    <dgm:cxn modelId="{A1801643-4F31-48D3-A469-E5350B74B1ED}" type="presParOf" srcId="{56106639-C502-44B3-8559-D4138B7823DA}" destId="{BE0646A8-9065-4665-B4EC-FBC621FC60B3}" srcOrd="1" destOrd="0" presId="urn:microsoft.com/office/officeart/2005/8/layout/vList5"/>
    <dgm:cxn modelId="{206C9792-CA75-4CE0-ACF3-E3FC59AEE748}" type="presParOf" srcId="{B4C5FC4E-EBF7-42F5-880B-2933DDC173F5}" destId="{6238D30F-2A21-489E-995B-AF8CA2452163}" srcOrd="5" destOrd="0" presId="urn:microsoft.com/office/officeart/2005/8/layout/vList5"/>
    <dgm:cxn modelId="{8FE652CA-1123-463B-8D55-C44873429BF1}" type="presParOf" srcId="{B4C5FC4E-EBF7-42F5-880B-2933DDC173F5}" destId="{5A03BA3C-8C5C-435F-A7A9-07848DA124E8}" srcOrd="6" destOrd="0" presId="urn:microsoft.com/office/officeart/2005/8/layout/vList5"/>
    <dgm:cxn modelId="{D4A435CA-FE25-41A4-92F9-17BDFB5ACD7D}" type="presParOf" srcId="{5A03BA3C-8C5C-435F-A7A9-07848DA124E8}" destId="{84BBF62E-5A36-4FF8-A934-B510FDF57C5E}" srcOrd="0" destOrd="0" presId="urn:microsoft.com/office/officeart/2005/8/layout/vList5"/>
    <dgm:cxn modelId="{B6FD1FF0-EEF5-42F1-AB85-3B8D9B9AD101}" type="presParOf" srcId="{5A03BA3C-8C5C-435F-A7A9-07848DA124E8}" destId="{80E9D2E2-F7C2-404D-8F17-5D724DAC92A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400A68-2CCD-4B13-8B98-29A88A5D02DD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7F2D62F9-F733-43A4-874C-49CF1B170D76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LOCAL SELF IMPROVEMENT</a:t>
          </a:r>
          <a:endParaRPr lang="en-IN" sz="1200" dirty="0"/>
        </a:p>
      </dgm:t>
    </dgm:pt>
    <dgm:pt modelId="{61FDEAE2-4FE4-44A5-AC69-E662DA9A5ADC}" type="parTrans" cxnId="{B9C180E7-5F80-4752-ADD8-FFF9BA35A101}">
      <dgm:prSet/>
      <dgm:spPr/>
      <dgm:t>
        <a:bodyPr/>
        <a:lstStyle/>
        <a:p>
          <a:endParaRPr lang="en-IN"/>
        </a:p>
      </dgm:t>
    </dgm:pt>
    <dgm:pt modelId="{7F6701EA-4EBC-44C4-9F2E-F68249C16ACA}" type="sibTrans" cxnId="{B9C180E7-5F80-4752-ADD8-FFF9BA35A101}">
      <dgm:prSet/>
      <dgm:spPr/>
      <dgm:t>
        <a:bodyPr/>
        <a:lstStyle/>
        <a:p>
          <a:endParaRPr lang="en-IN"/>
        </a:p>
      </dgm:t>
    </dgm:pt>
    <dgm:pt modelId="{5FB91F2D-42A1-4E33-8C27-3D9C7B24BB4F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DYNAMIC VRAM MANAGEMENT</a:t>
          </a:r>
          <a:endParaRPr lang="en-IN" sz="1200" dirty="0"/>
        </a:p>
      </dgm:t>
    </dgm:pt>
    <dgm:pt modelId="{2D1DAF20-E301-46A1-95CE-4EEF9F5128C6}" type="parTrans" cxnId="{A5D21927-141D-4449-9265-0F8596D066DD}">
      <dgm:prSet/>
      <dgm:spPr/>
      <dgm:t>
        <a:bodyPr/>
        <a:lstStyle/>
        <a:p>
          <a:endParaRPr lang="en-IN"/>
        </a:p>
      </dgm:t>
    </dgm:pt>
    <dgm:pt modelId="{DA528BF4-B78F-4D4D-8782-61C945F11B6A}" type="sibTrans" cxnId="{A5D21927-141D-4449-9265-0F8596D066DD}">
      <dgm:prSet/>
      <dgm:spPr/>
      <dgm:t>
        <a:bodyPr/>
        <a:lstStyle/>
        <a:p>
          <a:endParaRPr lang="en-IN"/>
        </a:p>
      </dgm:t>
    </dgm:pt>
    <dgm:pt modelId="{5ECBBB90-5466-4D8A-8FE6-B460F2E913F2}">
      <dgm:prSet phldrT="[Text]" custT="1"/>
      <dgm:spPr/>
      <dgm:t>
        <a:bodyPr/>
        <a:lstStyle/>
        <a:p>
          <a:pPr>
            <a:buNone/>
          </a:pPr>
          <a:r>
            <a:rPr lang="en-IN" sz="1200" dirty="0"/>
            <a:t>WORKER–AUDITOR VERIFICATION</a:t>
          </a:r>
        </a:p>
      </dgm:t>
    </dgm:pt>
    <dgm:pt modelId="{28C1127D-17AD-4D14-925F-0D87960B0D81}" type="parTrans" cxnId="{5E9EB0EC-59B0-4DE3-B116-859709D14050}">
      <dgm:prSet/>
      <dgm:spPr/>
      <dgm:t>
        <a:bodyPr/>
        <a:lstStyle/>
        <a:p>
          <a:endParaRPr lang="en-IN"/>
        </a:p>
      </dgm:t>
    </dgm:pt>
    <dgm:pt modelId="{9DE50C63-F43F-46E8-A83B-C92D81A84C19}" type="sibTrans" cxnId="{5E9EB0EC-59B0-4DE3-B116-859709D14050}">
      <dgm:prSet/>
      <dgm:spPr/>
      <dgm:t>
        <a:bodyPr/>
        <a:lstStyle/>
        <a:p>
          <a:endParaRPr lang="en-IN"/>
        </a:p>
      </dgm:t>
    </dgm:pt>
    <dgm:pt modelId="{EC9C114B-4A70-4352-A6BA-54BCC01955E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Arial" panose="020B0604020202020204" pitchFamily="34" charset="0"/>
              <a:cs typeface="Arial" panose="020B0604020202020204" pitchFamily="34" charset="0"/>
            </a:rPr>
            <a:t>Approved Edits –&gt; Local Preference Learning</a:t>
          </a:r>
        </a:p>
      </dgm:t>
    </dgm:pt>
    <dgm:pt modelId="{B7E36D7A-286F-40DB-A4DC-5F25A65795EC}" type="parTrans" cxnId="{926C6C1A-B80C-4041-BF6D-7B58509843E6}">
      <dgm:prSet/>
      <dgm:spPr/>
      <dgm:t>
        <a:bodyPr/>
        <a:lstStyle/>
        <a:p>
          <a:endParaRPr lang="en-IN"/>
        </a:p>
      </dgm:t>
    </dgm:pt>
    <dgm:pt modelId="{C0B825CD-DF88-4510-B70C-41D672ABFF1D}" type="sibTrans" cxnId="{926C6C1A-B80C-4041-BF6D-7B58509843E6}">
      <dgm:prSet/>
      <dgm:spPr/>
      <dgm:t>
        <a:bodyPr/>
        <a:lstStyle/>
        <a:p>
          <a:endParaRPr lang="en-IN"/>
        </a:p>
      </dgm:t>
    </dgm:pt>
    <dgm:pt modelId="{FBFAA172-D239-4526-85A1-C97099C9EEE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Arial" panose="020B0604020202020204" pitchFamily="34" charset="0"/>
              <a:cs typeface="Arial" panose="020B0604020202020204" pitchFamily="34" charset="0"/>
            </a:rPr>
            <a:t>Load –&gt; Execute –&gt; Unload/Switch</a:t>
          </a:r>
          <a:endParaRPr lang="en-IN" sz="1400" dirty="0"/>
        </a:p>
      </dgm:t>
    </dgm:pt>
    <dgm:pt modelId="{6E1828FF-C977-44C4-91AA-AA3495BD6501}" type="parTrans" cxnId="{01B6B65A-FB54-4FA7-A981-BCB4CAF5ABDD}">
      <dgm:prSet/>
      <dgm:spPr/>
      <dgm:t>
        <a:bodyPr/>
        <a:lstStyle/>
        <a:p>
          <a:endParaRPr lang="en-IN"/>
        </a:p>
      </dgm:t>
    </dgm:pt>
    <dgm:pt modelId="{2F8E2D90-4159-401A-9F87-FCDA2BFEBE9E}" type="sibTrans" cxnId="{01B6B65A-FB54-4FA7-A981-BCB4CAF5ABDD}">
      <dgm:prSet/>
      <dgm:spPr/>
      <dgm:t>
        <a:bodyPr/>
        <a:lstStyle/>
        <a:p>
          <a:endParaRPr lang="en-IN"/>
        </a:p>
      </dgm:t>
    </dgm:pt>
    <dgm:pt modelId="{A62CAA4E-D474-40F4-938F-DCA85F8C1D9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Arial" panose="020B0604020202020204" pitchFamily="34" charset="0"/>
              <a:cs typeface="Arial" panose="020B0604020202020204" pitchFamily="34" charset="0"/>
            </a:rPr>
            <a:t>Worker –&gt; Auditor –&gt; Verified</a:t>
          </a:r>
        </a:p>
      </dgm:t>
    </dgm:pt>
    <dgm:pt modelId="{0F72F9DE-E4E1-46A2-A945-AF102CD959B3}" type="parTrans" cxnId="{BCBAA505-C724-4900-80FE-6F2302E7B9B8}">
      <dgm:prSet/>
      <dgm:spPr/>
      <dgm:t>
        <a:bodyPr/>
        <a:lstStyle/>
        <a:p>
          <a:endParaRPr lang="en-IN"/>
        </a:p>
      </dgm:t>
    </dgm:pt>
    <dgm:pt modelId="{FABC4E70-052C-45CC-B73A-D0EF2E448956}" type="sibTrans" cxnId="{BCBAA505-C724-4900-80FE-6F2302E7B9B8}">
      <dgm:prSet/>
      <dgm:spPr/>
      <dgm:t>
        <a:bodyPr/>
        <a:lstStyle/>
        <a:p>
          <a:endParaRPr lang="en-IN"/>
        </a:p>
      </dgm:t>
    </dgm:pt>
    <dgm:pt modelId="{487C78E2-7ABE-4EF6-8E75-8AC8B63CEAC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Arial" panose="020B0604020202020204" pitchFamily="34" charset="0"/>
              <a:cs typeface="Arial" panose="020B0604020202020204" pitchFamily="34" charset="0"/>
            </a:rPr>
            <a:t>Adapts terminology and reporting style without external data transfer.</a:t>
          </a:r>
        </a:p>
      </dgm:t>
    </dgm:pt>
    <dgm:pt modelId="{7685F552-9D37-4E07-914A-DCCEF01CFB4F}" type="parTrans" cxnId="{F49B8913-392D-4FA5-BCF0-C04CFE3457BB}">
      <dgm:prSet/>
      <dgm:spPr/>
      <dgm:t>
        <a:bodyPr/>
        <a:lstStyle/>
        <a:p>
          <a:endParaRPr lang="en-IN"/>
        </a:p>
      </dgm:t>
    </dgm:pt>
    <dgm:pt modelId="{2BAEBAF6-4AF8-4C96-87D1-8B6B1291FE9B}" type="sibTrans" cxnId="{F49B8913-392D-4FA5-BCF0-C04CFE3457BB}">
      <dgm:prSet/>
      <dgm:spPr/>
      <dgm:t>
        <a:bodyPr/>
        <a:lstStyle/>
        <a:p>
          <a:endParaRPr lang="en-IN"/>
        </a:p>
      </dgm:t>
    </dgm:pt>
    <dgm:pt modelId="{D8217F47-77E4-457C-9B60-84C56F63608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Arial" panose="020B0604020202020204" pitchFamily="34" charset="0"/>
              <a:cs typeface="Arial" panose="020B0604020202020204" pitchFamily="34" charset="0"/>
            </a:rPr>
            <a:t>Keeps multiple local models usable on constrained GPU infrastructure.</a:t>
          </a:r>
        </a:p>
      </dgm:t>
    </dgm:pt>
    <dgm:pt modelId="{B6022EA5-4EEC-40BB-B36C-C76452653960}" type="parTrans" cxnId="{4937D49B-9EE1-4F1E-9A67-EB93FC406773}">
      <dgm:prSet/>
      <dgm:spPr/>
      <dgm:t>
        <a:bodyPr/>
        <a:lstStyle/>
        <a:p>
          <a:endParaRPr lang="en-IN"/>
        </a:p>
      </dgm:t>
    </dgm:pt>
    <dgm:pt modelId="{753645E9-7028-4CDF-8F91-22265B3CA0B8}" type="sibTrans" cxnId="{4937D49B-9EE1-4F1E-9A67-EB93FC406773}">
      <dgm:prSet/>
      <dgm:spPr/>
      <dgm:t>
        <a:bodyPr/>
        <a:lstStyle/>
        <a:p>
          <a:endParaRPr lang="en-IN"/>
        </a:p>
      </dgm:t>
    </dgm:pt>
    <dgm:pt modelId="{72B41130-CF08-4563-A030-978ABF71645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Arial" panose="020B0604020202020204" pitchFamily="34" charset="0"/>
              <a:cs typeface="Arial" panose="020B0604020202020204" pitchFamily="34" charset="0"/>
            </a:rPr>
            <a:t>Checks outputs against retrieved SOPs and flags inconsistencies.</a:t>
          </a:r>
        </a:p>
      </dgm:t>
    </dgm:pt>
    <dgm:pt modelId="{CA84FCEC-59E0-4E26-BFB0-3062F1461237}" type="parTrans" cxnId="{226BDED6-464F-46F7-8E44-AAA892A688B2}">
      <dgm:prSet/>
      <dgm:spPr/>
      <dgm:t>
        <a:bodyPr/>
        <a:lstStyle/>
        <a:p>
          <a:endParaRPr lang="en-IN"/>
        </a:p>
      </dgm:t>
    </dgm:pt>
    <dgm:pt modelId="{7094AFAA-4E2A-4082-AB34-EC77651DC4FA}" type="sibTrans" cxnId="{226BDED6-464F-46F7-8E44-AAA892A688B2}">
      <dgm:prSet/>
      <dgm:spPr/>
      <dgm:t>
        <a:bodyPr/>
        <a:lstStyle/>
        <a:p>
          <a:endParaRPr lang="en-IN"/>
        </a:p>
      </dgm:t>
    </dgm:pt>
    <dgm:pt modelId="{B4C5FC4E-EBF7-42F5-880B-2933DDC173F5}" type="pres">
      <dgm:prSet presAssocID="{0A400A68-2CCD-4B13-8B98-29A88A5D02DD}" presName="Name0" presStyleCnt="0">
        <dgm:presLayoutVars>
          <dgm:dir/>
          <dgm:animLvl val="lvl"/>
          <dgm:resizeHandles val="exact"/>
        </dgm:presLayoutVars>
      </dgm:prSet>
      <dgm:spPr/>
    </dgm:pt>
    <dgm:pt modelId="{54C6898B-47D5-426B-9311-130DA0CEDF92}" type="pres">
      <dgm:prSet presAssocID="{7F2D62F9-F733-43A4-874C-49CF1B170D76}" presName="linNode" presStyleCnt="0"/>
      <dgm:spPr/>
    </dgm:pt>
    <dgm:pt modelId="{E0E7FCDC-385A-4BC4-913F-FD3B28BCBC72}" type="pres">
      <dgm:prSet presAssocID="{7F2D62F9-F733-43A4-874C-49CF1B170D7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80FCE0E-FE90-46A8-AC49-AD73F0532145}" type="pres">
      <dgm:prSet presAssocID="{7F2D62F9-F733-43A4-874C-49CF1B170D76}" presName="descendantText" presStyleLbl="alignAccFollowNode1" presStyleIdx="0" presStyleCnt="3">
        <dgm:presLayoutVars>
          <dgm:bulletEnabled val="1"/>
        </dgm:presLayoutVars>
      </dgm:prSet>
      <dgm:spPr/>
    </dgm:pt>
    <dgm:pt modelId="{D042ABB6-9D5E-4CB1-84FF-3F453AE0C8B3}" type="pres">
      <dgm:prSet presAssocID="{7F6701EA-4EBC-44C4-9F2E-F68249C16ACA}" presName="sp" presStyleCnt="0"/>
      <dgm:spPr/>
    </dgm:pt>
    <dgm:pt modelId="{0838F375-74EF-4249-94F2-67BDB4D541BA}" type="pres">
      <dgm:prSet presAssocID="{5FB91F2D-42A1-4E33-8C27-3D9C7B24BB4F}" presName="linNode" presStyleCnt="0"/>
      <dgm:spPr/>
    </dgm:pt>
    <dgm:pt modelId="{DFD751A1-6318-4426-A089-8983E9EE208C}" type="pres">
      <dgm:prSet presAssocID="{5FB91F2D-42A1-4E33-8C27-3D9C7B24BB4F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88A1CFD-6213-450A-8B5E-0A2BBD31A3E4}" type="pres">
      <dgm:prSet presAssocID="{5FB91F2D-42A1-4E33-8C27-3D9C7B24BB4F}" presName="descendantText" presStyleLbl="alignAccFollowNode1" presStyleIdx="1" presStyleCnt="3">
        <dgm:presLayoutVars>
          <dgm:bulletEnabled val="1"/>
        </dgm:presLayoutVars>
      </dgm:prSet>
      <dgm:spPr/>
    </dgm:pt>
    <dgm:pt modelId="{A4B91CEB-1FEA-402C-A604-CE7E3BD623B7}" type="pres">
      <dgm:prSet presAssocID="{DA528BF4-B78F-4D4D-8782-61C945F11B6A}" presName="sp" presStyleCnt="0"/>
      <dgm:spPr/>
    </dgm:pt>
    <dgm:pt modelId="{56106639-C502-44B3-8559-D4138B7823DA}" type="pres">
      <dgm:prSet presAssocID="{5ECBBB90-5466-4D8A-8FE6-B460F2E913F2}" presName="linNode" presStyleCnt="0"/>
      <dgm:spPr/>
    </dgm:pt>
    <dgm:pt modelId="{1EE67857-D950-4F9C-B7A3-769B0F80FB1C}" type="pres">
      <dgm:prSet presAssocID="{5ECBBB90-5466-4D8A-8FE6-B460F2E913F2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BE0646A8-9065-4665-B4EC-FBC621FC60B3}" type="pres">
      <dgm:prSet presAssocID="{5ECBBB90-5466-4D8A-8FE6-B460F2E913F2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2DDD4402-D9D6-4337-AAC0-8BEFB9B2332F}" type="presOf" srcId="{D8217F47-77E4-457C-9B60-84C56F636082}" destId="{988A1CFD-6213-450A-8B5E-0A2BBD31A3E4}" srcOrd="0" destOrd="1" presId="urn:microsoft.com/office/officeart/2005/8/layout/vList5"/>
    <dgm:cxn modelId="{0BA87C02-0C63-4EF9-8B9F-7F4351ED4A5D}" type="presOf" srcId="{5ECBBB90-5466-4D8A-8FE6-B460F2E913F2}" destId="{1EE67857-D950-4F9C-B7A3-769B0F80FB1C}" srcOrd="0" destOrd="0" presId="urn:microsoft.com/office/officeart/2005/8/layout/vList5"/>
    <dgm:cxn modelId="{BCBAA505-C724-4900-80FE-6F2302E7B9B8}" srcId="{5ECBBB90-5466-4D8A-8FE6-B460F2E913F2}" destId="{A62CAA4E-D474-40F4-938F-DCA85F8C1D95}" srcOrd="0" destOrd="0" parTransId="{0F72F9DE-E4E1-46A2-A945-AF102CD959B3}" sibTransId="{FABC4E70-052C-45CC-B73A-D0EF2E448956}"/>
    <dgm:cxn modelId="{E8957A0C-DEE5-4B4E-A9C8-2231A5032573}" type="presOf" srcId="{0A400A68-2CCD-4B13-8B98-29A88A5D02DD}" destId="{B4C5FC4E-EBF7-42F5-880B-2933DDC173F5}" srcOrd="0" destOrd="0" presId="urn:microsoft.com/office/officeart/2005/8/layout/vList5"/>
    <dgm:cxn modelId="{05CA690D-D207-4F25-9BB2-A8B5BA5B07D7}" type="presOf" srcId="{5FB91F2D-42A1-4E33-8C27-3D9C7B24BB4F}" destId="{DFD751A1-6318-4426-A089-8983E9EE208C}" srcOrd="0" destOrd="0" presId="urn:microsoft.com/office/officeart/2005/8/layout/vList5"/>
    <dgm:cxn modelId="{F49B8913-392D-4FA5-BCF0-C04CFE3457BB}" srcId="{7F2D62F9-F733-43A4-874C-49CF1B170D76}" destId="{487C78E2-7ABE-4EF6-8E75-8AC8B63CEACF}" srcOrd="1" destOrd="0" parTransId="{7685F552-9D37-4E07-914A-DCCEF01CFB4F}" sibTransId="{2BAEBAF6-4AF8-4C96-87D1-8B6B1291FE9B}"/>
    <dgm:cxn modelId="{926C6C1A-B80C-4041-BF6D-7B58509843E6}" srcId="{7F2D62F9-F733-43A4-874C-49CF1B170D76}" destId="{EC9C114B-4A70-4352-A6BA-54BCC01955EC}" srcOrd="0" destOrd="0" parTransId="{B7E36D7A-286F-40DB-A4DC-5F25A65795EC}" sibTransId="{C0B825CD-DF88-4510-B70C-41D672ABFF1D}"/>
    <dgm:cxn modelId="{9A76B626-5EF8-40E8-BF97-B8CE911AF1EC}" type="presOf" srcId="{487C78E2-7ABE-4EF6-8E75-8AC8B63CEACF}" destId="{C80FCE0E-FE90-46A8-AC49-AD73F0532145}" srcOrd="0" destOrd="1" presId="urn:microsoft.com/office/officeart/2005/8/layout/vList5"/>
    <dgm:cxn modelId="{A5D21927-141D-4449-9265-0F8596D066DD}" srcId="{0A400A68-2CCD-4B13-8B98-29A88A5D02DD}" destId="{5FB91F2D-42A1-4E33-8C27-3D9C7B24BB4F}" srcOrd="1" destOrd="0" parTransId="{2D1DAF20-E301-46A1-95CE-4EEF9F5128C6}" sibTransId="{DA528BF4-B78F-4D4D-8782-61C945F11B6A}"/>
    <dgm:cxn modelId="{28E10D36-3AB3-4B23-B5C9-9067469117F7}" type="presOf" srcId="{7F2D62F9-F733-43A4-874C-49CF1B170D76}" destId="{E0E7FCDC-385A-4BC4-913F-FD3B28BCBC72}" srcOrd="0" destOrd="0" presId="urn:microsoft.com/office/officeart/2005/8/layout/vList5"/>
    <dgm:cxn modelId="{8F7B9145-350B-40E1-A4DC-321E940F798F}" type="presOf" srcId="{FBFAA172-D239-4526-85A1-C97099C9EEE2}" destId="{988A1CFD-6213-450A-8B5E-0A2BBD31A3E4}" srcOrd="0" destOrd="0" presId="urn:microsoft.com/office/officeart/2005/8/layout/vList5"/>
    <dgm:cxn modelId="{186B4B6F-33CD-4999-881D-40DAD256D733}" type="presOf" srcId="{A62CAA4E-D474-40F4-938F-DCA85F8C1D95}" destId="{BE0646A8-9065-4665-B4EC-FBC621FC60B3}" srcOrd="0" destOrd="0" presId="urn:microsoft.com/office/officeart/2005/8/layout/vList5"/>
    <dgm:cxn modelId="{01B6B65A-FB54-4FA7-A981-BCB4CAF5ABDD}" srcId="{5FB91F2D-42A1-4E33-8C27-3D9C7B24BB4F}" destId="{FBFAA172-D239-4526-85A1-C97099C9EEE2}" srcOrd="0" destOrd="0" parTransId="{6E1828FF-C977-44C4-91AA-AA3495BD6501}" sibTransId="{2F8E2D90-4159-401A-9F87-FCDA2BFEBE9E}"/>
    <dgm:cxn modelId="{C39E1586-4D1D-4690-B7F6-275E1C1EBC3C}" type="presOf" srcId="{EC9C114B-4A70-4352-A6BA-54BCC01955EC}" destId="{C80FCE0E-FE90-46A8-AC49-AD73F0532145}" srcOrd="0" destOrd="0" presId="urn:microsoft.com/office/officeart/2005/8/layout/vList5"/>
    <dgm:cxn modelId="{4937D49B-9EE1-4F1E-9A67-EB93FC406773}" srcId="{5FB91F2D-42A1-4E33-8C27-3D9C7B24BB4F}" destId="{D8217F47-77E4-457C-9B60-84C56F636082}" srcOrd="1" destOrd="0" parTransId="{B6022EA5-4EEC-40BB-B36C-C76452653960}" sibTransId="{753645E9-7028-4CDF-8F91-22265B3CA0B8}"/>
    <dgm:cxn modelId="{226BDED6-464F-46F7-8E44-AAA892A688B2}" srcId="{5ECBBB90-5466-4D8A-8FE6-B460F2E913F2}" destId="{72B41130-CF08-4563-A030-978ABF716455}" srcOrd="1" destOrd="0" parTransId="{CA84FCEC-59E0-4E26-BFB0-3062F1461237}" sibTransId="{7094AFAA-4E2A-4082-AB34-EC77651DC4FA}"/>
    <dgm:cxn modelId="{B9C180E7-5F80-4752-ADD8-FFF9BA35A101}" srcId="{0A400A68-2CCD-4B13-8B98-29A88A5D02DD}" destId="{7F2D62F9-F733-43A4-874C-49CF1B170D76}" srcOrd="0" destOrd="0" parTransId="{61FDEAE2-4FE4-44A5-AC69-E662DA9A5ADC}" sibTransId="{7F6701EA-4EBC-44C4-9F2E-F68249C16ACA}"/>
    <dgm:cxn modelId="{C1E052EB-C28C-4E64-9111-F6335A14AA97}" type="presOf" srcId="{72B41130-CF08-4563-A030-978ABF716455}" destId="{BE0646A8-9065-4665-B4EC-FBC621FC60B3}" srcOrd="0" destOrd="1" presId="urn:microsoft.com/office/officeart/2005/8/layout/vList5"/>
    <dgm:cxn modelId="{5E9EB0EC-59B0-4DE3-B116-859709D14050}" srcId="{0A400A68-2CCD-4B13-8B98-29A88A5D02DD}" destId="{5ECBBB90-5466-4D8A-8FE6-B460F2E913F2}" srcOrd="2" destOrd="0" parTransId="{28C1127D-17AD-4D14-925F-0D87960B0D81}" sibTransId="{9DE50C63-F43F-46E8-A83B-C92D81A84C19}"/>
    <dgm:cxn modelId="{5B7D9999-C793-494D-878B-C787B5EB168D}" type="presParOf" srcId="{B4C5FC4E-EBF7-42F5-880B-2933DDC173F5}" destId="{54C6898B-47D5-426B-9311-130DA0CEDF92}" srcOrd="0" destOrd="0" presId="urn:microsoft.com/office/officeart/2005/8/layout/vList5"/>
    <dgm:cxn modelId="{C8D4792E-9BDA-475A-A326-07376AEBE000}" type="presParOf" srcId="{54C6898B-47D5-426B-9311-130DA0CEDF92}" destId="{E0E7FCDC-385A-4BC4-913F-FD3B28BCBC72}" srcOrd="0" destOrd="0" presId="urn:microsoft.com/office/officeart/2005/8/layout/vList5"/>
    <dgm:cxn modelId="{472E7115-860E-4649-80AF-AA9BB9E41C02}" type="presParOf" srcId="{54C6898B-47D5-426B-9311-130DA0CEDF92}" destId="{C80FCE0E-FE90-46A8-AC49-AD73F0532145}" srcOrd="1" destOrd="0" presId="urn:microsoft.com/office/officeart/2005/8/layout/vList5"/>
    <dgm:cxn modelId="{40A80E90-1132-4922-97C4-DECBA367ADDB}" type="presParOf" srcId="{B4C5FC4E-EBF7-42F5-880B-2933DDC173F5}" destId="{D042ABB6-9D5E-4CB1-84FF-3F453AE0C8B3}" srcOrd="1" destOrd="0" presId="urn:microsoft.com/office/officeart/2005/8/layout/vList5"/>
    <dgm:cxn modelId="{4AFFDF68-CD06-40DB-909E-7A012F36E415}" type="presParOf" srcId="{B4C5FC4E-EBF7-42F5-880B-2933DDC173F5}" destId="{0838F375-74EF-4249-94F2-67BDB4D541BA}" srcOrd="2" destOrd="0" presId="urn:microsoft.com/office/officeart/2005/8/layout/vList5"/>
    <dgm:cxn modelId="{5A8F50BE-10C7-4307-9ED2-7D114C9C4BC5}" type="presParOf" srcId="{0838F375-74EF-4249-94F2-67BDB4D541BA}" destId="{DFD751A1-6318-4426-A089-8983E9EE208C}" srcOrd="0" destOrd="0" presId="urn:microsoft.com/office/officeart/2005/8/layout/vList5"/>
    <dgm:cxn modelId="{9A1F3B0E-B22F-40EB-B7CB-BC735158E031}" type="presParOf" srcId="{0838F375-74EF-4249-94F2-67BDB4D541BA}" destId="{988A1CFD-6213-450A-8B5E-0A2BBD31A3E4}" srcOrd="1" destOrd="0" presId="urn:microsoft.com/office/officeart/2005/8/layout/vList5"/>
    <dgm:cxn modelId="{0A5BCD29-3AC3-408F-9840-01EDC4C2B4AD}" type="presParOf" srcId="{B4C5FC4E-EBF7-42F5-880B-2933DDC173F5}" destId="{A4B91CEB-1FEA-402C-A604-CE7E3BD623B7}" srcOrd="3" destOrd="0" presId="urn:microsoft.com/office/officeart/2005/8/layout/vList5"/>
    <dgm:cxn modelId="{45FB8DF9-9B16-4C5C-A392-45C5A0D1C7F8}" type="presParOf" srcId="{B4C5FC4E-EBF7-42F5-880B-2933DDC173F5}" destId="{56106639-C502-44B3-8559-D4138B7823DA}" srcOrd="4" destOrd="0" presId="urn:microsoft.com/office/officeart/2005/8/layout/vList5"/>
    <dgm:cxn modelId="{39631B6F-FA54-4457-B63B-DBBFDE0BBD31}" type="presParOf" srcId="{56106639-C502-44B3-8559-D4138B7823DA}" destId="{1EE67857-D950-4F9C-B7A3-769B0F80FB1C}" srcOrd="0" destOrd="0" presId="urn:microsoft.com/office/officeart/2005/8/layout/vList5"/>
    <dgm:cxn modelId="{A1801643-4F31-48D3-A469-E5350B74B1ED}" type="presParOf" srcId="{56106639-C502-44B3-8559-D4138B7823DA}" destId="{BE0646A8-9065-4665-B4EC-FBC621FC60B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FCE0E-FE90-46A8-AC49-AD73F0532145}">
      <dsp:nvSpPr>
        <dsp:cNvPr id="0" name=""/>
        <dsp:cNvSpPr/>
      </dsp:nvSpPr>
      <dsp:spPr>
        <a:xfrm rot="5400000">
          <a:off x="3247308" y="-1289167"/>
          <a:ext cx="609163" cy="334295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latin typeface="Arial" panose="020B0604020202020204" pitchFamily="34" charset="0"/>
              <a:cs typeface="Arial" panose="020B0604020202020204" pitchFamily="34" charset="0"/>
            </a:rPr>
            <a:t>Air-gapped, on-premise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latin typeface="Arial" panose="020B0604020202020204" pitchFamily="34" charset="0"/>
              <a:cs typeface="Arial" panose="020B0604020202020204" pitchFamily="34" charset="0"/>
            </a:rPr>
            <a:t>Execution </a:t>
          </a:r>
          <a:endParaRPr lang="en-IN" sz="1600" kern="1200" dirty="0"/>
        </a:p>
      </dsp:txBody>
      <dsp:txXfrm rot="-5400000">
        <a:off x="1880413" y="107465"/>
        <a:ext cx="3313218" cy="549689"/>
      </dsp:txXfrm>
    </dsp:sp>
    <dsp:sp modelId="{E0E7FCDC-385A-4BC4-913F-FD3B28BCBC72}">
      <dsp:nvSpPr>
        <dsp:cNvPr id="0" name=""/>
        <dsp:cNvSpPr/>
      </dsp:nvSpPr>
      <dsp:spPr>
        <a:xfrm>
          <a:off x="0" y="0"/>
          <a:ext cx="1880412" cy="76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DATA SOVEREIGNTY</a:t>
          </a:r>
          <a:endParaRPr lang="en-IN" sz="1200" kern="1200" dirty="0"/>
        </a:p>
      </dsp:txBody>
      <dsp:txXfrm>
        <a:off x="37171" y="37171"/>
        <a:ext cx="1806070" cy="687112"/>
      </dsp:txXfrm>
    </dsp:sp>
    <dsp:sp modelId="{988A1CFD-6213-450A-8B5E-0A2BBD31A3E4}">
      <dsp:nvSpPr>
        <dsp:cNvPr id="0" name=""/>
        <dsp:cNvSpPr/>
      </dsp:nvSpPr>
      <dsp:spPr>
        <a:xfrm rot="5400000">
          <a:off x="3247308" y="-489639"/>
          <a:ext cx="609163" cy="334295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IN" sz="1600" kern="1200" dirty="0"/>
            <a:t>PDFs • Scans • Images • P&amp;IDs</a:t>
          </a:r>
        </a:p>
      </dsp:txBody>
      <dsp:txXfrm rot="-5400000">
        <a:off x="1880413" y="906993"/>
        <a:ext cx="3313218" cy="549689"/>
      </dsp:txXfrm>
    </dsp:sp>
    <dsp:sp modelId="{DFD751A1-6318-4426-A089-8983E9EE208C}">
      <dsp:nvSpPr>
        <dsp:cNvPr id="0" name=""/>
        <dsp:cNvSpPr/>
      </dsp:nvSpPr>
      <dsp:spPr>
        <a:xfrm>
          <a:off x="0" y="801110"/>
          <a:ext cx="1880412" cy="76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MULTIMODAL INPUT</a:t>
          </a:r>
          <a:endParaRPr lang="en-IN" sz="1200" kern="1200" dirty="0"/>
        </a:p>
      </dsp:txBody>
      <dsp:txXfrm>
        <a:off x="37171" y="838281"/>
        <a:ext cx="1806070" cy="687112"/>
      </dsp:txXfrm>
    </dsp:sp>
    <dsp:sp modelId="{BE0646A8-9065-4665-B4EC-FBC621FC60B3}">
      <dsp:nvSpPr>
        <dsp:cNvPr id="0" name=""/>
        <dsp:cNvSpPr/>
      </dsp:nvSpPr>
      <dsp:spPr>
        <a:xfrm rot="5400000">
          <a:off x="3247308" y="309887"/>
          <a:ext cx="609163" cy="334295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/>
            <a:t>Task-aware Model Routing • Local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/>
            <a:t>RAG • Tools</a:t>
          </a:r>
        </a:p>
      </dsp:txBody>
      <dsp:txXfrm rot="-5400000">
        <a:off x="1880413" y="1706520"/>
        <a:ext cx="3313218" cy="549689"/>
      </dsp:txXfrm>
    </dsp:sp>
    <dsp:sp modelId="{1EE67857-D950-4F9C-B7A3-769B0F80FB1C}">
      <dsp:nvSpPr>
        <dsp:cNvPr id="0" name=""/>
        <dsp:cNvSpPr/>
      </dsp:nvSpPr>
      <dsp:spPr>
        <a:xfrm>
          <a:off x="0" y="1600637"/>
          <a:ext cx="1880412" cy="76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AGENTIC EXECUTION</a:t>
          </a:r>
          <a:endParaRPr lang="en-IN" sz="1200" kern="1200" dirty="0"/>
        </a:p>
      </dsp:txBody>
      <dsp:txXfrm>
        <a:off x="37171" y="1637808"/>
        <a:ext cx="1806070" cy="687112"/>
      </dsp:txXfrm>
    </dsp:sp>
    <dsp:sp modelId="{80E9D2E2-F7C2-404D-8F17-5D724DAC92A6}">
      <dsp:nvSpPr>
        <dsp:cNvPr id="0" name=""/>
        <dsp:cNvSpPr/>
      </dsp:nvSpPr>
      <dsp:spPr>
        <a:xfrm rot="5400000">
          <a:off x="3247308" y="1109414"/>
          <a:ext cx="609163" cy="334295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/>
            <a:t>Reports • Calculations • Code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/>
            <a:t>• DOCX/XLSX/PPTX</a:t>
          </a:r>
        </a:p>
      </dsp:txBody>
      <dsp:txXfrm rot="-5400000">
        <a:off x="1880413" y="2506047"/>
        <a:ext cx="3313218" cy="549689"/>
      </dsp:txXfrm>
    </dsp:sp>
    <dsp:sp modelId="{84BBF62E-5A36-4FF8-A934-B510FDF57C5E}">
      <dsp:nvSpPr>
        <dsp:cNvPr id="0" name=""/>
        <dsp:cNvSpPr/>
      </dsp:nvSpPr>
      <dsp:spPr>
        <a:xfrm>
          <a:off x="0" y="2400165"/>
          <a:ext cx="1880412" cy="76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REAL DELIVERABLES </a:t>
          </a:r>
          <a:endParaRPr lang="en-IN" sz="1200" kern="1200" dirty="0"/>
        </a:p>
      </dsp:txBody>
      <dsp:txXfrm>
        <a:off x="37171" y="2437336"/>
        <a:ext cx="1806070" cy="6871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FCE0E-FE90-46A8-AC49-AD73F0532145}">
      <dsp:nvSpPr>
        <dsp:cNvPr id="0" name=""/>
        <dsp:cNvSpPr/>
      </dsp:nvSpPr>
      <dsp:spPr>
        <a:xfrm rot="5400000">
          <a:off x="3741265" y="-1441240"/>
          <a:ext cx="815513" cy="390496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Arial" panose="020B0604020202020204" pitchFamily="34" charset="0"/>
              <a:cs typeface="Arial" panose="020B0604020202020204" pitchFamily="34" charset="0"/>
            </a:rPr>
            <a:t>Approved Edits –&gt; Local Preference Learning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Arial" panose="020B0604020202020204" pitchFamily="34" charset="0"/>
              <a:cs typeface="Arial" panose="020B0604020202020204" pitchFamily="34" charset="0"/>
            </a:rPr>
            <a:t>Adapts terminology and reporting style without external data transfer.</a:t>
          </a:r>
        </a:p>
      </dsp:txBody>
      <dsp:txXfrm rot="-5400000">
        <a:off x="2196541" y="143294"/>
        <a:ext cx="3865151" cy="735893"/>
      </dsp:txXfrm>
    </dsp:sp>
    <dsp:sp modelId="{E0E7FCDC-385A-4BC4-913F-FD3B28BCBC72}">
      <dsp:nvSpPr>
        <dsp:cNvPr id="0" name=""/>
        <dsp:cNvSpPr/>
      </dsp:nvSpPr>
      <dsp:spPr>
        <a:xfrm>
          <a:off x="0" y="1544"/>
          <a:ext cx="2196541" cy="101939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LOCAL SELF IMPROVEMENT</a:t>
          </a:r>
          <a:endParaRPr lang="en-IN" sz="1200" kern="1200" dirty="0"/>
        </a:p>
      </dsp:txBody>
      <dsp:txXfrm>
        <a:off x="49763" y="51307"/>
        <a:ext cx="2097015" cy="919865"/>
      </dsp:txXfrm>
    </dsp:sp>
    <dsp:sp modelId="{988A1CFD-6213-450A-8B5E-0A2BBD31A3E4}">
      <dsp:nvSpPr>
        <dsp:cNvPr id="0" name=""/>
        <dsp:cNvSpPr/>
      </dsp:nvSpPr>
      <dsp:spPr>
        <a:xfrm rot="5400000">
          <a:off x="3741265" y="-370879"/>
          <a:ext cx="815513" cy="390496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Arial" panose="020B0604020202020204" pitchFamily="34" charset="0"/>
              <a:cs typeface="Arial" panose="020B0604020202020204" pitchFamily="34" charset="0"/>
            </a:rPr>
            <a:t>Load –&gt; Execute –&gt; Unload/Switch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Arial" panose="020B0604020202020204" pitchFamily="34" charset="0"/>
              <a:cs typeface="Arial" panose="020B0604020202020204" pitchFamily="34" charset="0"/>
            </a:rPr>
            <a:t>Keeps multiple local models usable on constrained GPU infrastructure.</a:t>
          </a:r>
        </a:p>
      </dsp:txBody>
      <dsp:txXfrm rot="-5400000">
        <a:off x="2196541" y="1213655"/>
        <a:ext cx="3865151" cy="735893"/>
      </dsp:txXfrm>
    </dsp:sp>
    <dsp:sp modelId="{DFD751A1-6318-4426-A089-8983E9EE208C}">
      <dsp:nvSpPr>
        <dsp:cNvPr id="0" name=""/>
        <dsp:cNvSpPr/>
      </dsp:nvSpPr>
      <dsp:spPr>
        <a:xfrm>
          <a:off x="0" y="1071905"/>
          <a:ext cx="2196541" cy="101939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DYNAMIC VRAM MANAGEMENT</a:t>
          </a:r>
          <a:endParaRPr lang="en-IN" sz="1200" kern="1200" dirty="0"/>
        </a:p>
      </dsp:txBody>
      <dsp:txXfrm>
        <a:off x="49763" y="1121668"/>
        <a:ext cx="2097015" cy="919865"/>
      </dsp:txXfrm>
    </dsp:sp>
    <dsp:sp modelId="{BE0646A8-9065-4665-B4EC-FBC621FC60B3}">
      <dsp:nvSpPr>
        <dsp:cNvPr id="0" name=""/>
        <dsp:cNvSpPr/>
      </dsp:nvSpPr>
      <dsp:spPr>
        <a:xfrm rot="5400000">
          <a:off x="3741265" y="699481"/>
          <a:ext cx="815513" cy="3904961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Arial" panose="020B0604020202020204" pitchFamily="34" charset="0"/>
              <a:cs typeface="Arial" panose="020B0604020202020204" pitchFamily="34" charset="0"/>
            </a:rPr>
            <a:t>Worker –&gt; Auditor –&gt; Verified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Arial" panose="020B0604020202020204" pitchFamily="34" charset="0"/>
              <a:cs typeface="Arial" panose="020B0604020202020204" pitchFamily="34" charset="0"/>
            </a:rPr>
            <a:t>Checks outputs against retrieved SOPs and flags inconsistencies.</a:t>
          </a:r>
        </a:p>
      </dsp:txBody>
      <dsp:txXfrm rot="-5400000">
        <a:off x="2196541" y="2284015"/>
        <a:ext cx="3865151" cy="735893"/>
      </dsp:txXfrm>
    </dsp:sp>
    <dsp:sp modelId="{1EE67857-D950-4F9C-B7A3-769B0F80FB1C}">
      <dsp:nvSpPr>
        <dsp:cNvPr id="0" name=""/>
        <dsp:cNvSpPr/>
      </dsp:nvSpPr>
      <dsp:spPr>
        <a:xfrm>
          <a:off x="0" y="2142266"/>
          <a:ext cx="2196541" cy="101939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WORKER–AUDITOR VERIFICATION</a:t>
          </a:r>
        </a:p>
      </dsp:txBody>
      <dsp:txXfrm>
        <a:off x="49763" y="2192029"/>
        <a:ext cx="2097015" cy="9198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2BBCB-B289-0315-2AC0-7794975D5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57ABB235-2BCB-85E3-FF29-3F821301F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B3C80406-3409-22F0-F300-B3C54886FF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2576228A-F231-6DCD-30D3-6EF3AEAFE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56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9E4F-5758-EE13-D112-88134B6E4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48791FC-7AE4-FC2C-B923-0C1E9C70C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C542F13-C0A2-D09D-32E8-F382B95D83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79581FDA-18A5-4BE4-7DF1-E0B3D0209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67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bert.net/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langchain-ai.github.io/langgraph/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llama.com/?utm_source=chatgpt.com" TargetMode="External"/><Relationship Id="rId11" Type="http://schemas.openxmlformats.org/officeDocument/2006/relationships/hyperlink" Target="https://python-docx.readthedocs.io/" TargetMode="External"/><Relationship Id="rId5" Type="http://schemas.openxmlformats.org/officeDocument/2006/relationships/hyperlink" Target="https://www.nttdata.com/en-us/news/2026/enterprise-ai-hits-the-wall-ntt-data-research-reveals-growing-privacy-and-sovereignty-barriers" TargetMode="External"/><Relationship Id="rId10" Type="http://schemas.openxmlformats.org/officeDocument/2006/relationships/hyperlink" Target="https://tesseract-ocr.github.io/?utm_source=chatgpt.com" TargetMode="External"/><Relationship Id="rId4" Type="http://schemas.openxmlformats.org/officeDocument/2006/relationships/hyperlink" Target="https://ir.arqit.uk/news-events/press-releases/detail/123/62-of-respondents-cite-data-sovereignty-and-privacy-risks-as-the-biggest-factor-slowing-ai-projects-in-the-public-cloud" TargetMode="External"/><Relationship Id="rId9" Type="http://schemas.openxmlformats.org/officeDocument/2006/relationships/hyperlink" Target="https://huggingface.co/docs/transformers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128042"/>
            <a:ext cx="592455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SIH26117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dirty="0"/>
              <a:t>Sovereign On-Premise Agentic AI Workbench using Open-Weight Multimodal LLMs for Confidential Industrial Work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4B4D8-D1BA-360D-DE60-F9F09A567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BDE25C-D3AE-45C7-75B0-B3485C0CA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679887C0-4AE7-4B41-DF63-0E1865471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04" y="-308038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</a:br>
            <a:r>
              <a:rPr lang="en-IN" sz="24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V.A.U.L.T. — Sovereign On-Premise Agentic AI Workbench</a:t>
            </a:r>
            <a:endParaRPr lang="en-US" sz="3600" b="1" dirty="0"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E8584A-240A-329A-8B14-ED5615C2A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604" y="2601491"/>
            <a:ext cx="5507638" cy="452106"/>
          </a:xfrm>
        </p:spPr>
        <p:txBody>
          <a:bodyPr/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HOW V.A.U.L.T. ADDRESSES SIH26117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FDC8C90-6B94-544D-08D7-2E0C5DE1C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13210" y="2616920"/>
            <a:ext cx="5791109" cy="452106"/>
          </a:xfrm>
        </p:spPr>
        <p:txBody>
          <a:bodyPr/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WHY V.A.U.L.T. IS UNIQUE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7B5D3D8-F972-9E28-E99F-D3473087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@SIH Idea submission- Template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9D6CE-948B-8D88-DE69-F99D4C4C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2" name="TextBox 8">
            <a:extLst>
              <a:ext uri="{FF2B5EF4-FFF2-40B4-BE49-F238E27FC236}">
                <a16:creationId xmlns:a16="http://schemas.microsoft.com/office/drawing/2014/main" id="{8BEED968-4C0A-EE63-D17E-EF1BE0963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37" y="973220"/>
            <a:ext cx="1216313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Proposed Solution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 self-hosted, air-gapped agentic AI workbench for confidential industrial knowledge work, using local open-weight models, organization-controlled knowledge and local tools — with no external AI dependency.</a:t>
            </a: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83AEFE88-B5EB-40F8-238E-3859BB1D2E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2796" y="14949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Your Team Name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128075-6685-04AE-9447-7442A5A50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9354" y="21993"/>
            <a:ext cx="2249850" cy="1062337"/>
          </a:xfrm>
          <a:prstGeom prst="rect">
            <a:avLst/>
          </a:prstGeom>
        </p:spPr>
      </p:pic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75DB0639-BC33-8F2E-8178-F3C83E815D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7924909"/>
              </p:ext>
            </p:extLst>
          </p:nvPr>
        </p:nvGraphicFramePr>
        <p:xfrm>
          <a:off x="222775" y="3122577"/>
          <a:ext cx="5223368" cy="3163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9" name="Diagram 38">
            <a:extLst>
              <a:ext uri="{FF2B5EF4-FFF2-40B4-BE49-F238E27FC236}">
                <a16:creationId xmlns:a16="http://schemas.microsoft.com/office/drawing/2014/main" id="{D1CA9480-9C15-3AF9-69FB-AD3E9668E7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1004387"/>
              </p:ext>
            </p:extLst>
          </p:nvPr>
        </p:nvGraphicFramePr>
        <p:xfrm>
          <a:off x="5986980" y="3122576"/>
          <a:ext cx="6101503" cy="3163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754626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C9BD6-5959-4296-4DA0-671DA7543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D37661-77E3-DC91-6C06-37E6548AA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7DF8343-6BF7-50B4-E9B1-EA5872E7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6356"/>
            <a:ext cx="9170486" cy="603928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85718-01EF-D98B-6CDE-10224E91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566667-98D0-3818-7713-429D7E83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22D406DE-52F1-3BC5-D3E1-D4682109E6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125" y="65587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0F4C60-704B-6F15-E36A-E9C5D642F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FBDA5E-CA41-E767-BC70-E3A5D67D3939}"/>
              </a:ext>
            </a:extLst>
          </p:cNvPr>
          <p:cNvSpPr/>
          <p:nvPr/>
        </p:nvSpPr>
        <p:spPr>
          <a:xfrm>
            <a:off x="6197084" y="872921"/>
            <a:ext cx="3806791" cy="46848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USER INTERFACE</a:t>
            </a:r>
          </a:p>
          <a:p>
            <a:pPr algn="ctr"/>
            <a:r>
              <a:rPr lang="en-IN" sz="1400" dirty="0"/>
              <a:t>Chat • Files • Tasks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9757E4-4073-C8B0-FEB7-5C51F0B1144B}"/>
              </a:ext>
            </a:extLst>
          </p:cNvPr>
          <p:cNvSpPr/>
          <p:nvPr/>
        </p:nvSpPr>
        <p:spPr>
          <a:xfrm>
            <a:off x="6199133" y="1573295"/>
            <a:ext cx="3806791" cy="65011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ORCHESTRATOR</a:t>
            </a:r>
          </a:p>
          <a:p>
            <a:pPr algn="ctr"/>
            <a:r>
              <a:rPr lang="en-IN" sz="1400" dirty="0"/>
              <a:t>Understand -&gt; Plan -&gt; Select Agent -&gt; Context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C9ADAC-93B9-7F67-A58A-16C55E1DBE2D}"/>
              </a:ext>
            </a:extLst>
          </p:cNvPr>
          <p:cNvSpPr/>
          <p:nvPr/>
        </p:nvSpPr>
        <p:spPr>
          <a:xfrm>
            <a:off x="6199105" y="2512441"/>
            <a:ext cx="3816576" cy="68824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AI AGENTS (WORKERS)</a:t>
            </a:r>
          </a:p>
          <a:p>
            <a:pPr algn="ctr"/>
            <a:r>
              <a:rPr lang="en-IN" sz="1400" dirty="0"/>
              <a:t>Document Agent • Coding Agent • Engineering Agent • Review Agent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6C40BC-078A-634B-D83A-6E75E4DA78B1}"/>
              </a:ext>
            </a:extLst>
          </p:cNvPr>
          <p:cNvSpPr/>
          <p:nvPr/>
        </p:nvSpPr>
        <p:spPr>
          <a:xfrm>
            <a:off x="6208585" y="3489713"/>
            <a:ext cx="3806791" cy="68085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TOOLS &amp; CAPABILITIES</a:t>
            </a:r>
          </a:p>
          <a:p>
            <a:pPr algn="ctr"/>
            <a:r>
              <a:rPr lang="en-IN" sz="1400" dirty="0"/>
              <a:t>RAG • OCR/Vision • File System • Sandbox</a:t>
            </a:r>
            <a:br>
              <a:rPr lang="en-IN" sz="1400" dirty="0"/>
            </a:br>
            <a:r>
              <a:rPr lang="en-IN" sz="1400" dirty="0"/>
              <a:t>Calculations • Spreadsheets • Document Tools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016804-1D54-2F79-26EB-288E3D3FF02E}"/>
              </a:ext>
            </a:extLst>
          </p:cNvPr>
          <p:cNvSpPr/>
          <p:nvPr/>
        </p:nvSpPr>
        <p:spPr>
          <a:xfrm>
            <a:off x="6204854" y="4398007"/>
            <a:ext cx="3816577" cy="68862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/>
          </a:p>
          <a:p>
            <a:pPr algn="ctr"/>
            <a:r>
              <a:rPr lang="en-IN" sz="1600" dirty="0"/>
              <a:t>INTELLIGENCE LAYER </a:t>
            </a:r>
          </a:p>
          <a:p>
            <a:pPr algn="ctr"/>
            <a:r>
              <a:rPr lang="en-IN" sz="1400" dirty="0"/>
              <a:t>Model Registry • Model Router</a:t>
            </a:r>
            <a:br>
              <a:rPr lang="en-IN" sz="1400" dirty="0"/>
            </a:br>
            <a:r>
              <a:rPr lang="en-IN" sz="1400" dirty="0"/>
              <a:t>Local LLM/VLM • Dynamic VRAM Management</a:t>
            </a:r>
          </a:p>
          <a:p>
            <a:pPr algn="ctr"/>
            <a:endParaRPr lang="en-I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D2FB56-DC32-B9FD-3267-656C8CB1D290}"/>
              </a:ext>
            </a:extLst>
          </p:cNvPr>
          <p:cNvSpPr/>
          <p:nvPr/>
        </p:nvSpPr>
        <p:spPr>
          <a:xfrm>
            <a:off x="6208556" y="5367886"/>
            <a:ext cx="3816577" cy="70346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REVIEW &amp; DATA LAYER</a:t>
            </a:r>
          </a:p>
          <a:p>
            <a:pPr algn="ctr"/>
            <a:r>
              <a:rPr lang="en-IN" sz="1400" dirty="0"/>
              <a:t>Auditor • Knowledge Base • Artifacts</a:t>
            </a:r>
            <a:br>
              <a:rPr lang="en-IN" sz="1400" dirty="0"/>
            </a:br>
            <a:r>
              <a:rPr lang="en-IN" sz="1400" dirty="0"/>
              <a:t>Audit Logs • Training Data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C6820A-DC48-0BA5-750B-DE87AC1EDE3D}"/>
              </a:ext>
            </a:extLst>
          </p:cNvPr>
          <p:cNvCxnSpPr>
            <a:cxnSpLocks/>
          </p:cNvCxnSpPr>
          <p:nvPr/>
        </p:nvCxnSpPr>
        <p:spPr>
          <a:xfrm>
            <a:off x="8100480" y="1341410"/>
            <a:ext cx="2049" cy="231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98DCD9-4FBC-C760-08F4-EB9611F085E8}"/>
              </a:ext>
            </a:extLst>
          </p:cNvPr>
          <p:cNvCxnSpPr>
            <a:cxnSpLocks/>
          </p:cNvCxnSpPr>
          <p:nvPr/>
        </p:nvCxnSpPr>
        <p:spPr>
          <a:xfrm>
            <a:off x="8102529" y="2223414"/>
            <a:ext cx="4864" cy="2890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B6C9B4-E627-49D6-10F7-887082EC3472}"/>
              </a:ext>
            </a:extLst>
          </p:cNvPr>
          <p:cNvCxnSpPr>
            <a:cxnSpLocks/>
          </p:cNvCxnSpPr>
          <p:nvPr/>
        </p:nvCxnSpPr>
        <p:spPr>
          <a:xfrm>
            <a:off x="8111981" y="4170565"/>
            <a:ext cx="1162" cy="2274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9E96BA-F3E4-EAFF-C0C8-3951AAB96AD2}"/>
              </a:ext>
            </a:extLst>
          </p:cNvPr>
          <p:cNvCxnSpPr>
            <a:cxnSpLocks/>
          </p:cNvCxnSpPr>
          <p:nvPr/>
        </p:nvCxnSpPr>
        <p:spPr>
          <a:xfrm>
            <a:off x="8113143" y="5086634"/>
            <a:ext cx="3702" cy="281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5BCA387-D29C-C31D-9113-95824729B256}"/>
              </a:ext>
            </a:extLst>
          </p:cNvPr>
          <p:cNvSpPr/>
          <p:nvPr/>
        </p:nvSpPr>
        <p:spPr>
          <a:xfrm>
            <a:off x="4144381" y="2518511"/>
            <a:ext cx="1735737" cy="273169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OVERNIGHT LEARNING LOOP</a:t>
            </a:r>
          </a:p>
          <a:p>
            <a:pPr algn="ctr"/>
            <a:r>
              <a:rPr lang="en-IN" dirty="0"/>
              <a:t>–––––––––––</a:t>
            </a:r>
          </a:p>
          <a:p>
            <a:pPr algn="ctr"/>
            <a:r>
              <a:rPr lang="en-IN" sz="1400" dirty="0"/>
              <a:t>Human Feedback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Preference Data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Adapt / Fine-Tune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Evaluate</a:t>
            </a:r>
          </a:p>
          <a:p>
            <a:pPr algn="ctr"/>
            <a:r>
              <a:rPr lang="en-IN" sz="1400" dirty="0"/>
              <a:t>↓ </a:t>
            </a:r>
          </a:p>
          <a:p>
            <a:pPr algn="ctr"/>
            <a:r>
              <a:rPr lang="en-IN" sz="1400" dirty="0"/>
              <a:t> Deploy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B4A79D-28D1-A074-6F9E-DBB3890CB427}"/>
              </a:ext>
            </a:extLst>
          </p:cNvPr>
          <p:cNvSpPr/>
          <p:nvPr/>
        </p:nvSpPr>
        <p:spPr>
          <a:xfrm>
            <a:off x="10324939" y="2518511"/>
            <a:ext cx="1704997" cy="294488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SECURE ON-PREMISE ENVIRONMENT</a:t>
            </a:r>
          </a:p>
          <a:p>
            <a:pPr algn="ctr"/>
            <a:r>
              <a:rPr lang="en-IN" dirty="0"/>
              <a:t>–––––––––––</a:t>
            </a:r>
          </a:p>
          <a:p>
            <a:pPr algn="ctr"/>
            <a:r>
              <a:rPr lang="en-IN" sz="1400" dirty="0"/>
              <a:t>100% Air Gapped </a:t>
            </a:r>
          </a:p>
          <a:p>
            <a:pPr algn="ctr"/>
            <a:r>
              <a:rPr lang="en-IN" sz="1400" dirty="0"/>
              <a:t>(No Internet)</a:t>
            </a:r>
          </a:p>
          <a:p>
            <a:pPr algn="ctr"/>
            <a:endParaRPr lang="en-IN" sz="1400" dirty="0"/>
          </a:p>
          <a:p>
            <a:pPr algn="ctr"/>
            <a:r>
              <a:rPr lang="en-IN" sz="1400" dirty="0"/>
              <a:t>No External AI Calls </a:t>
            </a:r>
          </a:p>
          <a:p>
            <a:pPr algn="ctr"/>
            <a:endParaRPr lang="en-IN" sz="1400" dirty="0"/>
          </a:p>
          <a:p>
            <a:pPr algn="ctr"/>
            <a:r>
              <a:rPr lang="en-IN" sz="1400" dirty="0"/>
              <a:t>Local Storage</a:t>
            </a:r>
          </a:p>
          <a:p>
            <a:pPr algn="ctr"/>
            <a:endParaRPr lang="en-IN" sz="1400" dirty="0"/>
          </a:p>
          <a:p>
            <a:pPr algn="ctr"/>
            <a:r>
              <a:rPr lang="en-IN" sz="1400" dirty="0"/>
              <a:t>Audit &amp; Logs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0E3D01E-DD00-61AC-D695-337FB7188556}"/>
              </a:ext>
            </a:extLst>
          </p:cNvPr>
          <p:cNvCxnSpPr>
            <a:cxnSpLocks/>
          </p:cNvCxnSpPr>
          <p:nvPr/>
        </p:nvCxnSpPr>
        <p:spPr>
          <a:xfrm rot="5400000">
            <a:off x="9343165" y="4237077"/>
            <a:ext cx="607955" cy="3060593"/>
          </a:xfrm>
          <a:prstGeom prst="bentConnector3">
            <a:avLst>
              <a:gd name="adj1" fmla="val 1376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1" name="Connector: Elbow 17450">
            <a:extLst>
              <a:ext uri="{FF2B5EF4-FFF2-40B4-BE49-F238E27FC236}">
                <a16:creationId xmlns:a16="http://schemas.microsoft.com/office/drawing/2014/main" id="{7374F196-593C-8A78-C47E-160E7AC2AB25}"/>
              </a:ext>
            </a:extLst>
          </p:cNvPr>
          <p:cNvCxnSpPr>
            <a:cxnSpLocks/>
          </p:cNvCxnSpPr>
          <p:nvPr/>
        </p:nvCxnSpPr>
        <p:spPr>
          <a:xfrm rot="10800000">
            <a:off x="5864640" y="3407221"/>
            <a:ext cx="324736" cy="1352111"/>
          </a:xfrm>
          <a:prstGeom prst="bentConnector3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53" name="Connector: Elbow 17452">
            <a:extLst>
              <a:ext uri="{FF2B5EF4-FFF2-40B4-BE49-F238E27FC236}">
                <a16:creationId xmlns:a16="http://schemas.microsoft.com/office/drawing/2014/main" id="{EA7F1E4A-1F5C-BDD6-9F99-01BF7B3232F3}"/>
              </a:ext>
            </a:extLst>
          </p:cNvPr>
          <p:cNvCxnSpPr>
            <a:cxnSpLocks/>
          </p:cNvCxnSpPr>
          <p:nvPr/>
        </p:nvCxnSpPr>
        <p:spPr>
          <a:xfrm flipH="1" flipV="1">
            <a:off x="10015681" y="2856564"/>
            <a:ext cx="9452" cy="2863055"/>
          </a:xfrm>
          <a:prstGeom prst="bentConnector3">
            <a:avLst>
              <a:gd name="adj1" fmla="val -2418536"/>
            </a:avLst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515" name="TextBox 17514">
            <a:extLst>
              <a:ext uri="{FF2B5EF4-FFF2-40B4-BE49-F238E27FC236}">
                <a16:creationId xmlns:a16="http://schemas.microsoft.com/office/drawing/2014/main" id="{86E635D2-B0AA-6FEB-9A44-C6144C8F8B32}"/>
              </a:ext>
            </a:extLst>
          </p:cNvPr>
          <p:cNvSpPr txBox="1"/>
          <p:nvPr/>
        </p:nvSpPr>
        <p:spPr>
          <a:xfrm>
            <a:off x="97936" y="1557050"/>
            <a:ext cx="3806791" cy="4524315"/>
          </a:xfrm>
          <a:prstGeom prst="roundRect">
            <a:avLst>
              <a:gd name="adj" fmla="val 0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r>
              <a:rPr lang="en-IN" sz="16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Streamlit</a:t>
            </a:r>
            <a:r>
              <a:rPr lang="en-IN" sz="1600" dirty="0">
                <a:solidFill>
                  <a:schemeClr val="tx1"/>
                </a:solidFill>
              </a:rPr>
              <a:t> - Rapid local UI for chat, files &amp; tasks</a:t>
            </a:r>
          </a:p>
          <a:p>
            <a:r>
              <a:rPr lang="en-IN" sz="16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Orchestration</a:t>
            </a:r>
            <a:endParaRPr lang="en-IN" sz="16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LangGraph</a:t>
            </a:r>
            <a:r>
              <a:rPr lang="en-IN" sz="1600" dirty="0">
                <a:solidFill>
                  <a:schemeClr val="tx1"/>
                </a:solidFill>
              </a:rPr>
              <a:t> - Agent orchestration: understand –&gt; plan –&gt; select agent 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   –&gt; context</a:t>
            </a:r>
          </a:p>
          <a:p>
            <a:r>
              <a:rPr lang="en-IN" sz="16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Local</a:t>
            </a:r>
            <a:r>
              <a:rPr lang="en-IN" sz="1600" b="1" u="sng" dirty="0">
                <a:solidFill>
                  <a:schemeClr val="tx1"/>
                </a:solidFill>
              </a:rPr>
              <a:t> </a:t>
            </a:r>
            <a:r>
              <a:rPr lang="en-IN" sz="16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</a:t>
            </a:r>
            <a:endParaRPr lang="en-IN" sz="16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Ollama</a:t>
            </a:r>
            <a:r>
              <a:rPr lang="en-IN" sz="1600" dirty="0">
                <a:solidFill>
                  <a:schemeClr val="tx1"/>
                </a:solidFill>
              </a:rPr>
              <a:t> -Local model serving &amp;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Local LLM/VLM </a:t>
            </a:r>
            <a:r>
              <a:rPr lang="en-IN" sz="1600" dirty="0">
                <a:solidFill>
                  <a:schemeClr val="tx1"/>
                </a:solidFill>
              </a:rPr>
              <a:t>- Private multimodal reasoning</a:t>
            </a:r>
          </a:p>
          <a:p>
            <a:r>
              <a:rPr lang="en-IN" sz="16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Knowledge</a:t>
            </a:r>
            <a:r>
              <a:rPr lang="en-IN" sz="1600" b="1" u="sng" dirty="0">
                <a:solidFill>
                  <a:schemeClr val="tx1"/>
                </a:solidFill>
              </a:rPr>
              <a:t> </a:t>
            </a:r>
            <a:r>
              <a:rPr lang="en-IN" sz="16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/RAG</a:t>
            </a:r>
            <a:endParaRPr lang="en-IN" sz="16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ChromaDB</a:t>
            </a:r>
            <a:r>
              <a:rPr lang="en-IN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1600" dirty="0">
                <a:solidFill>
                  <a:schemeClr val="tx1"/>
                </a:solidFill>
              </a:rPr>
              <a:t>- Local vector search for 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Sentence Transformers </a:t>
            </a:r>
            <a:r>
              <a:rPr lang="en-IN" sz="1600" dirty="0">
                <a:solidFill>
                  <a:schemeClr val="tx1"/>
                </a:solidFill>
              </a:rPr>
              <a:t>- Document embeddings &amp; semantic retrieval</a:t>
            </a:r>
          </a:p>
          <a:p>
            <a:r>
              <a:rPr lang="en-IN" sz="16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Document</a:t>
            </a:r>
            <a:r>
              <a:rPr lang="en-IN" sz="1600" b="1" u="sng" dirty="0">
                <a:solidFill>
                  <a:schemeClr val="tx1"/>
                </a:solidFill>
              </a:rPr>
              <a:t> </a:t>
            </a:r>
            <a:r>
              <a:rPr lang="en-IN" sz="16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Processing</a:t>
            </a:r>
            <a:endParaRPr lang="en-IN" sz="1600" b="1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 &amp; python-docx </a:t>
            </a:r>
            <a:r>
              <a:rPr lang="en-IN" sz="1600" dirty="0">
                <a:solidFill>
                  <a:schemeClr val="tx1"/>
                </a:solidFill>
              </a:rPr>
              <a:t>- Document parsing &amp; DOCX generation</a:t>
            </a:r>
          </a:p>
        </p:txBody>
      </p:sp>
      <p:sp>
        <p:nvSpPr>
          <p:cNvPr id="17516" name="Rectangle 17515">
            <a:extLst>
              <a:ext uri="{FF2B5EF4-FFF2-40B4-BE49-F238E27FC236}">
                <a16:creationId xmlns:a16="http://schemas.microsoft.com/office/drawing/2014/main" id="{BD085BE4-FAD2-AAB0-11C1-99710AB9E56C}"/>
              </a:ext>
            </a:extLst>
          </p:cNvPr>
          <p:cNvSpPr/>
          <p:nvPr/>
        </p:nvSpPr>
        <p:spPr>
          <a:xfrm>
            <a:off x="97936" y="971031"/>
            <a:ext cx="3806791" cy="5833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TECHNOLOGY STACK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0FBE090-2FA6-B56F-4561-63FE2A8B789E}"/>
              </a:ext>
            </a:extLst>
          </p:cNvPr>
          <p:cNvCxnSpPr/>
          <p:nvPr/>
        </p:nvCxnSpPr>
        <p:spPr>
          <a:xfrm>
            <a:off x="8107393" y="3200686"/>
            <a:ext cx="4588" cy="28902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873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47291" y="-11097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0306" y="93093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101" y="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24868D-A947-E89C-6AB4-966C9EA2B14A}"/>
              </a:ext>
            </a:extLst>
          </p:cNvPr>
          <p:cNvSpPr txBox="1"/>
          <p:nvPr/>
        </p:nvSpPr>
        <p:spPr>
          <a:xfrm>
            <a:off x="247291" y="941344"/>
            <a:ext cx="616501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TECHNICAL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Local AI Inference</a:t>
            </a:r>
            <a:br>
              <a:rPr lang="en-IN" sz="1600" dirty="0"/>
            </a:br>
            <a:r>
              <a:rPr lang="en-IN" sz="1600" dirty="0"/>
              <a:t>Open-weight LLM/VLMs can run locally on a GPU workstation/server.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Agentic Workflow</a:t>
            </a:r>
            <a:br>
              <a:rPr lang="en-IN" sz="1600" dirty="0"/>
            </a:br>
            <a:r>
              <a:rPr lang="en-IN" sz="1600" dirty="0"/>
              <a:t>Orchestration can route tasks to specialized agents and local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Multimodal Processing</a:t>
            </a:r>
            <a:br>
              <a:rPr lang="en-IN" sz="1600" dirty="0"/>
            </a:br>
            <a:r>
              <a:rPr lang="en-IN" sz="1600" dirty="0"/>
              <a:t>OCR/Vision pipelines can process scanned PDFs, images and P&amp;IDs.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Local Knowledge + Tools</a:t>
            </a:r>
            <a:br>
              <a:rPr lang="en-IN" sz="1600" dirty="0"/>
            </a:br>
            <a:r>
              <a:rPr lang="en-IN" sz="1600" dirty="0"/>
              <a:t>RAG, sandbox execution and document tools enable grounded task completion.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A1793A-4366-694F-23EF-D2A67C716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523115"/>
              </p:ext>
            </p:extLst>
          </p:nvPr>
        </p:nvGraphicFramePr>
        <p:xfrm>
          <a:off x="247291" y="4022072"/>
          <a:ext cx="11409872" cy="21961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704936">
                  <a:extLst>
                    <a:ext uri="{9D8B030D-6E8A-4147-A177-3AD203B41FA5}">
                      <a16:colId xmlns:a16="http://schemas.microsoft.com/office/drawing/2014/main" val="525341876"/>
                    </a:ext>
                  </a:extLst>
                </a:gridCol>
                <a:gridCol w="5704936">
                  <a:extLst>
                    <a:ext uri="{9D8B030D-6E8A-4147-A177-3AD203B41FA5}">
                      <a16:colId xmlns:a16="http://schemas.microsoft.com/office/drawing/2014/main" val="2831246209"/>
                    </a:ext>
                  </a:extLst>
                </a:gridCol>
              </a:tblGrid>
              <a:tr h="2099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+mj-lt"/>
                        </a:rPr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+mj-lt"/>
                        </a:rPr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093601"/>
                  </a:ext>
                </a:extLst>
              </a:tr>
              <a:tr h="3673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+mj-lt"/>
                        </a:rPr>
                        <a:t>Limited GPU / VRAM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+mj-lt"/>
                        </a:rPr>
                        <a:t>Dynamic model loading &amp; model switching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983150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+mj-lt"/>
                        </a:rPr>
                        <a:t>Hallucinated outputs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+mj-lt"/>
                        </a:rPr>
                        <a:t>RAG grounding + independent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513231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+mj-lt"/>
                        </a:rPr>
                        <a:t>Complex agent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+mj-lt"/>
                        </a:rPr>
                        <a:t>Task planning + specialized agents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9577838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+mj-lt"/>
                        </a:rPr>
                        <a:t>Sensitive data leakage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+mj-lt"/>
                        </a:rPr>
                        <a:t>Air-gapped deployment + audit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390995"/>
                  </a:ext>
                </a:extLst>
              </a:tr>
              <a:tr h="209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+mj-lt"/>
                        </a:rPr>
                        <a:t>Model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+mj-lt"/>
                        </a:rPr>
                        <a:t>Modular model registry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53414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D79CF72-5CA3-DA2E-3B5E-A9A7F0D3BA88}"/>
              </a:ext>
            </a:extLst>
          </p:cNvPr>
          <p:cNvSpPr txBox="1"/>
          <p:nvPr/>
        </p:nvSpPr>
        <p:spPr>
          <a:xfrm>
            <a:off x="247291" y="3632411"/>
            <a:ext cx="3355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KEY RISKS &amp; MITIGATION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968112-698E-3564-77E1-1358844161EC}"/>
              </a:ext>
            </a:extLst>
          </p:cNvPr>
          <p:cNvSpPr txBox="1"/>
          <p:nvPr/>
        </p:nvSpPr>
        <p:spPr>
          <a:xfrm>
            <a:off x="6561826" y="900427"/>
            <a:ext cx="54576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DEPLOYMENT VIABILITY</a:t>
            </a:r>
          </a:p>
          <a:p>
            <a:pPr>
              <a:buNone/>
            </a:pPr>
            <a:r>
              <a:rPr lang="en-IN" sz="1600" b="1" dirty="0"/>
              <a:t>Hardware</a:t>
            </a:r>
          </a:p>
          <a:p>
            <a:pPr>
              <a:buNone/>
            </a:pPr>
            <a:r>
              <a:rPr lang="en-IN" sz="1600" dirty="0"/>
              <a:t>Mid-range GPU workstation/server</a:t>
            </a:r>
          </a:p>
          <a:p>
            <a:pPr>
              <a:buNone/>
            </a:pPr>
            <a:r>
              <a:rPr lang="en-IN" sz="1600" b="1" dirty="0"/>
              <a:t>Software</a:t>
            </a:r>
          </a:p>
          <a:p>
            <a:pPr>
              <a:buNone/>
            </a:pPr>
            <a:r>
              <a:rPr lang="en-IN" sz="1600" dirty="0"/>
              <a:t>Open-weight models + open-source tooling</a:t>
            </a:r>
          </a:p>
          <a:p>
            <a:pPr>
              <a:buNone/>
            </a:pPr>
            <a:r>
              <a:rPr lang="en-IN" sz="1600" b="1" dirty="0"/>
              <a:t>Deployment</a:t>
            </a:r>
          </a:p>
          <a:p>
            <a:pPr>
              <a:buNone/>
            </a:pPr>
            <a:r>
              <a:rPr lang="en-IN" sz="1600" dirty="0"/>
              <a:t>Self-hosted / air-gapped</a:t>
            </a:r>
          </a:p>
          <a:p>
            <a:pPr>
              <a:buNone/>
            </a:pPr>
            <a:r>
              <a:rPr lang="en-IN" sz="1600" b="1" dirty="0"/>
              <a:t>Scale</a:t>
            </a:r>
          </a:p>
          <a:p>
            <a:pPr>
              <a:buNone/>
            </a:pPr>
            <a:r>
              <a:rPr lang="en-IN" sz="1600" dirty="0"/>
              <a:t>Add models and agents without redesigning core system</a:t>
            </a:r>
          </a:p>
          <a:p>
            <a:pPr>
              <a:buNone/>
            </a:pPr>
            <a:r>
              <a:rPr lang="en-IN" sz="1600" b="1" dirty="0"/>
              <a:t>MVP → Pilot → Organization-wide Deployment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2825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950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7352F9-9A93-2F2F-C597-48A20161AE29}"/>
              </a:ext>
            </a:extLst>
          </p:cNvPr>
          <p:cNvSpPr txBox="1"/>
          <p:nvPr/>
        </p:nvSpPr>
        <p:spPr>
          <a:xfrm>
            <a:off x="154200" y="1014435"/>
            <a:ext cx="5941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USER BENEFITS</a:t>
            </a:r>
          </a:p>
          <a:p>
            <a:pPr>
              <a:buNone/>
            </a:pPr>
            <a:r>
              <a:rPr lang="en-IN" sz="1600" b="1" dirty="0"/>
              <a:t>Confidential Knowledge Work</a:t>
            </a:r>
            <a:br>
              <a:rPr lang="en-IN" sz="1600" dirty="0"/>
            </a:br>
            <a:r>
              <a:rPr lang="en-IN" sz="1600" dirty="0"/>
              <a:t>Enables AI-assisted work without sending sensitive documents or industrial knowledge to external AI services.</a:t>
            </a:r>
          </a:p>
          <a:p>
            <a:pPr>
              <a:buNone/>
            </a:pPr>
            <a:r>
              <a:rPr lang="en-IN" sz="1600" b="1" dirty="0"/>
              <a:t>Faster Task Execution</a:t>
            </a:r>
            <a:br>
              <a:rPr lang="en-IN" sz="1600" dirty="0"/>
            </a:br>
            <a:r>
              <a:rPr lang="en-IN" sz="1600" dirty="0"/>
              <a:t>Automates multi-step document, coding, analysis and reporting workflows through specialized agents.</a:t>
            </a:r>
          </a:p>
          <a:p>
            <a:pPr>
              <a:buNone/>
            </a:pPr>
            <a:r>
              <a:rPr lang="en-IN" sz="1600" b="1" dirty="0"/>
              <a:t>Multimodal Understanding</a:t>
            </a:r>
            <a:br>
              <a:rPr lang="en-IN" sz="1600" dirty="0"/>
            </a:br>
            <a:r>
              <a:rPr lang="en-IN" sz="1600" dirty="0"/>
              <a:t>Processes scanned PDFs, images, handwritten content and engineering drawings using local OCR/Vision.</a:t>
            </a:r>
          </a:p>
          <a:p>
            <a:pPr>
              <a:buNone/>
            </a:pPr>
            <a:r>
              <a:rPr lang="en-IN" sz="1600" b="1" dirty="0"/>
              <a:t>Real Deliverables</a:t>
            </a:r>
            <a:br>
              <a:rPr lang="en-IN" sz="1600" dirty="0"/>
            </a:br>
            <a:r>
              <a:rPr lang="en-IN" sz="1600" dirty="0"/>
              <a:t>Produces usable Word, PowerPoint, Excel, reports, calculations and verified code—not only chat responses.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b="1" dirty="0"/>
              <a:t>STRATEGIC IMPACT</a:t>
            </a:r>
          </a:p>
          <a:p>
            <a:r>
              <a:rPr lang="en-IN" sz="1600" b="1" dirty="0"/>
              <a:t>Data Sovereignty</a:t>
            </a:r>
            <a:r>
              <a:rPr lang="en-IN" sz="1600" dirty="0"/>
              <a:t> – Sensitive knowledge remains on-premise.</a:t>
            </a:r>
          </a:p>
          <a:p>
            <a:r>
              <a:rPr lang="en-IN" sz="1600" b="1" dirty="0"/>
              <a:t>Reduced Cloud Dependency</a:t>
            </a:r>
            <a:r>
              <a:rPr lang="en-IN" sz="1600" dirty="0"/>
              <a:t> – Open-weight models reduce reliance     on external AI APIs.</a:t>
            </a:r>
          </a:p>
          <a:p>
            <a:r>
              <a:rPr lang="en-IN" sz="1600" b="1" dirty="0"/>
              <a:t>Reusable Platform</a:t>
            </a:r>
            <a:r>
              <a:rPr lang="en-IN" sz="1600" dirty="0"/>
              <a:t> – Models, agents and tools can be added modularly.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2BCA7B-66DF-C856-2396-D04CF5B80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857569"/>
              </p:ext>
            </p:extLst>
          </p:nvPr>
        </p:nvGraphicFramePr>
        <p:xfrm>
          <a:off x="6250196" y="1298357"/>
          <a:ext cx="5539238" cy="2346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69619">
                  <a:extLst>
                    <a:ext uri="{9D8B030D-6E8A-4147-A177-3AD203B41FA5}">
                      <a16:colId xmlns:a16="http://schemas.microsoft.com/office/drawing/2014/main" val="50272460"/>
                    </a:ext>
                  </a:extLst>
                </a:gridCol>
                <a:gridCol w="2769619">
                  <a:extLst>
                    <a:ext uri="{9D8B030D-6E8A-4147-A177-3AD203B41FA5}">
                      <a16:colId xmlns:a16="http://schemas.microsoft.com/office/drawing/2014/main" val="2832244687"/>
                    </a:ext>
                  </a:extLst>
                </a:gridCol>
              </a:tblGrid>
              <a:tr h="301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C</a:t>
                      </a:r>
                      <a:r>
                        <a:rPr lang="en-IN" sz="1600" dirty="0" err="1"/>
                        <a:t>riterion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Target /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397122"/>
                  </a:ext>
                </a:extLst>
              </a:tr>
              <a:tr h="301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External AI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686560"/>
                  </a:ext>
                </a:extLst>
              </a:tr>
              <a:tr h="301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100% local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112605"/>
                  </a:ext>
                </a:extLst>
              </a:tr>
              <a:tr h="301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Model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≥ 2 task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042119"/>
                  </a:ext>
                </a:extLst>
              </a:tr>
              <a:tr h="301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Agentic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End-to-end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225241"/>
                  </a:ext>
                </a:extLst>
              </a:tr>
              <a:tr h="301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Multimodal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PDF / Image / Scan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442411"/>
                  </a:ext>
                </a:extLst>
              </a:tr>
              <a:tr h="301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Deliverables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DOCX / XLSX / PPTX /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75109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1950617-8832-5F99-F799-E4BF328BC10F}"/>
              </a:ext>
            </a:extLst>
          </p:cNvPr>
          <p:cNvSpPr txBox="1"/>
          <p:nvPr/>
        </p:nvSpPr>
        <p:spPr>
          <a:xfrm>
            <a:off x="6250195" y="993494"/>
            <a:ext cx="3537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IMPACT &amp; VALIDATION TARGETS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7EEFA-D9D6-AD12-4DE5-AA036F8381BD}"/>
              </a:ext>
            </a:extLst>
          </p:cNvPr>
          <p:cNvSpPr txBox="1"/>
          <p:nvPr/>
        </p:nvSpPr>
        <p:spPr>
          <a:xfrm>
            <a:off x="6250197" y="3788450"/>
            <a:ext cx="5539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REQUEST → EXECUTE → VERIFY → DELIVER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9402C0-105A-C486-3511-CE2D1BCCA0B0}"/>
              </a:ext>
            </a:extLst>
          </p:cNvPr>
          <p:cNvSpPr/>
          <p:nvPr/>
        </p:nvSpPr>
        <p:spPr>
          <a:xfrm>
            <a:off x="6326038" y="4155847"/>
            <a:ext cx="2507415" cy="291831"/>
          </a:xfrm>
          <a:prstGeom prst="round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User Task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344825-7662-090A-8A3D-9083D24AC913}"/>
              </a:ext>
            </a:extLst>
          </p:cNvPr>
          <p:cNvSpPr/>
          <p:nvPr/>
        </p:nvSpPr>
        <p:spPr>
          <a:xfrm>
            <a:off x="6326033" y="4601108"/>
            <a:ext cx="2507415" cy="291831"/>
          </a:xfrm>
          <a:prstGeom prst="round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Local Agents + Tools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3F5925-1E6B-E696-6206-35052252FD9C}"/>
              </a:ext>
            </a:extLst>
          </p:cNvPr>
          <p:cNvSpPr/>
          <p:nvPr/>
        </p:nvSpPr>
        <p:spPr>
          <a:xfrm>
            <a:off x="6326032" y="5076312"/>
            <a:ext cx="2507415" cy="291831"/>
          </a:xfrm>
          <a:prstGeom prst="round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RAG / Multimodal Processing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165ADFE-51C5-DFED-BC62-C84DA134A437}"/>
              </a:ext>
            </a:extLst>
          </p:cNvPr>
          <p:cNvSpPr/>
          <p:nvPr/>
        </p:nvSpPr>
        <p:spPr>
          <a:xfrm>
            <a:off x="6326033" y="5551517"/>
            <a:ext cx="2507415" cy="291831"/>
          </a:xfrm>
          <a:prstGeom prst="round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Independent Review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0178B-2BFB-DC1D-89D9-C0C17BC301E2}"/>
              </a:ext>
            </a:extLst>
          </p:cNvPr>
          <p:cNvSpPr/>
          <p:nvPr/>
        </p:nvSpPr>
        <p:spPr>
          <a:xfrm>
            <a:off x="6326038" y="6009985"/>
            <a:ext cx="2507415" cy="291831"/>
          </a:xfrm>
          <a:prstGeom prst="round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Verified Deliverable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8ACD11-A10F-9870-5351-AF1FB82D577B}"/>
              </a:ext>
            </a:extLst>
          </p:cNvPr>
          <p:cNvCxnSpPr>
            <a:stCxn id="2" idx="2"/>
            <a:endCxn id="9" idx="0"/>
          </p:cNvCxnSpPr>
          <p:nvPr/>
        </p:nvCxnSpPr>
        <p:spPr>
          <a:xfrm flipH="1">
            <a:off x="7579741" y="4447678"/>
            <a:ext cx="5" cy="153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7B888E6-1C5E-9A13-6D91-A1D51F523725}"/>
              </a:ext>
            </a:extLst>
          </p:cNvPr>
          <p:cNvCxnSpPr>
            <a:stCxn id="9" idx="2"/>
            <a:endCxn id="16" idx="0"/>
          </p:cNvCxnSpPr>
          <p:nvPr/>
        </p:nvCxnSpPr>
        <p:spPr>
          <a:xfrm flipH="1">
            <a:off x="7579740" y="4892939"/>
            <a:ext cx="1" cy="18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D53D861-1CD7-6A22-DB31-447205B58D90}"/>
              </a:ext>
            </a:extLst>
          </p:cNvPr>
          <p:cNvCxnSpPr>
            <a:stCxn id="16" idx="2"/>
            <a:endCxn id="19" idx="0"/>
          </p:cNvCxnSpPr>
          <p:nvPr/>
        </p:nvCxnSpPr>
        <p:spPr>
          <a:xfrm>
            <a:off x="7579740" y="5368143"/>
            <a:ext cx="1" cy="183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B2FF66-8B10-5F28-126D-EB53C25E2908}"/>
              </a:ext>
            </a:extLst>
          </p:cNvPr>
          <p:cNvCxnSpPr>
            <a:stCxn id="19" idx="2"/>
            <a:endCxn id="25" idx="0"/>
          </p:cNvCxnSpPr>
          <p:nvPr/>
        </p:nvCxnSpPr>
        <p:spPr>
          <a:xfrm>
            <a:off x="7579741" y="5843348"/>
            <a:ext cx="5" cy="166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81796" y="-8811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4763" y="7971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387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89D9D9-380E-77EF-26A8-53D2308213AC}"/>
              </a:ext>
            </a:extLst>
          </p:cNvPr>
          <p:cNvSpPr txBox="1"/>
          <p:nvPr/>
        </p:nvSpPr>
        <p:spPr>
          <a:xfrm>
            <a:off x="69013" y="919446"/>
            <a:ext cx="583145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PROBLEM VALIDATION</a:t>
            </a:r>
          </a:p>
          <a:p>
            <a:r>
              <a:rPr lang="en-IN" sz="1600" b="1" dirty="0"/>
              <a:t>1. </a:t>
            </a:r>
            <a:r>
              <a:rPr lang="en-IN" sz="1600" b="1" dirty="0" err="1"/>
              <a:t>Arqit</a:t>
            </a:r>
            <a:r>
              <a:rPr lang="en-IN" sz="1600" b="1" dirty="0"/>
              <a:t> Survey (Feb 2026) – Data Sovereignty as the Top AI Blocker</a:t>
            </a:r>
            <a:br>
              <a:rPr lang="en-IN" sz="1600" dirty="0"/>
            </a:br>
            <a:r>
              <a:rPr lang="en-IN" sz="1600" dirty="0"/>
              <a:t>Survey finds data sovereignty are now the leading factor slowing enterprise AI adoption in the public cloud; </a:t>
            </a:r>
            <a:br>
              <a:rPr lang="en-IN" sz="1600" dirty="0"/>
            </a:br>
            <a:r>
              <a:rPr lang="en-IN" sz="1600" dirty="0" err="1">
                <a:hlinkClick r:id="rId4"/>
              </a:rPr>
              <a:t>Arqit</a:t>
            </a:r>
            <a:r>
              <a:rPr lang="en-IN" sz="1600" dirty="0">
                <a:hlinkClick r:id="rId4"/>
              </a:rPr>
              <a:t> — 62% Cite Data Sovereignty Risk</a:t>
            </a:r>
            <a:endParaRPr lang="en-IN" sz="1600" dirty="0"/>
          </a:p>
          <a:p>
            <a:r>
              <a:rPr lang="en-IN" sz="1600" b="1" dirty="0"/>
              <a:t>2. NTT DATA Research (May 2026) — Enterprise AI Hits the Wall</a:t>
            </a:r>
            <a:br>
              <a:rPr lang="en-IN" sz="1600" dirty="0"/>
            </a:br>
            <a:r>
              <a:rPr lang="en-IN" sz="1600" dirty="0"/>
              <a:t>Global research showing enterprise AI architectures are outgrowing centralized, cloud-first designs as data privacy and sovereignty requirements tighten across industries.</a:t>
            </a:r>
            <a:br>
              <a:rPr lang="en-IN" sz="1600" dirty="0"/>
            </a:br>
            <a:r>
              <a:rPr lang="en-IN" sz="1600" dirty="0">
                <a:hlinkClick r:id="rId5"/>
              </a:rPr>
              <a:t>NTT DATA — Enterprise AI Hits the Wall</a:t>
            </a:r>
            <a:endParaRPr lang="en-IN" sz="1600" dirty="0"/>
          </a:p>
          <a:p>
            <a:pPr>
              <a:buNone/>
            </a:pPr>
            <a:r>
              <a:rPr lang="en-IN" sz="1600" b="1" dirty="0"/>
              <a:t>TECHNICAL / RESEARCH REFERENCES</a:t>
            </a:r>
          </a:p>
          <a:p>
            <a:pPr>
              <a:buNone/>
            </a:pPr>
            <a:r>
              <a:rPr lang="en-IN" sz="1600" b="1" dirty="0"/>
              <a:t>1. </a:t>
            </a:r>
            <a:r>
              <a:rPr lang="en-IN" sz="1600" b="1" dirty="0" err="1"/>
              <a:t>Ollama</a:t>
            </a:r>
            <a:r>
              <a:rPr lang="en-IN" sz="1600" b="1" dirty="0"/>
              <a:t> — Local LLM Runtime</a:t>
            </a:r>
            <a:br>
              <a:rPr lang="en-IN" sz="1600" dirty="0"/>
            </a:br>
            <a:r>
              <a:rPr lang="en-IN" sz="1600" dirty="0"/>
              <a:t>Used as the local inference/runtime layer for open-weight models.</a:t>
            </a:r>
            <a:br>
              <a:rPr lang="en-IN" sz="1600" dirty="0"/>
            </a:br>
            <a:r>
              <a:rPr lang="en-IN" sz="1600" dirty="0" err="1">
                <a:hlinkClick r:id="rId6"/>
              </a:rPr>
              <a:t>Ollama</a:t>
            </a:r>
            <a:r>
              <a:rPr lang="en-IN" sz="1600" dirty="0">
                <a:hlinkClick r:id="rId6"/>
              </a:rPr>
              <a:t> Documentation</a:t>
            </a:r>
            <a:endParaRPr lang="en-IN" sz="1600" dirty="0"/>
          </a:p>
          <a:p>
            <a:pPr>
              <a:buNone/>
            </a:pPr>
            <a:r>
              <a:rPr lang="en-IN" sz="1600" b="1" dirty="0"/>
              <a:t>2. </a:t>
            </a:r>
            <a:r>
              <a:rPr lang="en-IN" sz="1600" b="1" dirty="0" err="1"/>
              <a:t>LangGraph</a:t>
            </a:r>
            <a:r>
              <a:rPr lang="en-IN" sz="1600" b="1" dirty="0"/>
              <a:t> — Agent Orchestration</a:t>
            </a:r>
            <a:br>
              <a:rPr lang="en-IN" sz="1600" dirty="0"/>
            </a:br>
            <a:r>
              <a:rPr lang="en-IN" sz="1600" dirty="0"/>
              <a:t>Supports stateful, multi-step agent workflows and task routing.</a:t>
            </a:r>
            <a:br>
              <a:rPr lang="en-IN" sz="1600" dirty="0"/>
            </a:br>
            <a:r>
              <a:rPr lang="en-IN" sz="1600" dirty="0" err="1">
                <a:hlinkClick r:id="rId7"/>
              </a:rPr>
              <a:t>LangGraph</a:t>
            </a:r>
            <a:r>
              <a:rPr lang="en-IN" sz="1600" dirty="0">
                <a:hlinkClick r:id="rId7"/>
              </a:rPr>
              <a:t> Documentation</a:t>
            </a:r>
            <a:endParaRPr lang="en-IN" sz="1600" dirty="0"/>
          </a:p>
          <a:p>
            <a:pPr>
              <a:buNone/>
            </a:pPr>
            <a:r>
              <a:rPr lang="en-IN" sz="1600" b="1" dirty="0"/>
              <a:t>3. Sentence Transformers — Embeddings</a:t>
            </a:r>
            <a:br>
              <a:rPr lang="en-IN" sz="1600" dirty="0"/>
            </a:br>
            <a:r>
              <a:rPr lang="en-IN" sz="1600" dirty="0"/>
              <a:t>Used for semantic embeddings supporting local knowledge retrieval.</a:t>
            </a:r>
            <a:br>
              <a:rPr lang="en-IN" sz="1600" dirty="0"/>
            </a:br>
            <a:r>
              <a:rPr lang="en-IN" sz="1600" dirty="0">
                <a:hlinkClick r:id="rId8"/>
              </a:rPr>
              <a:t>Sentence Transformers Documentation</a:t>
            </a:r>
            <a:endParaRPr lang="en-IN" sz="1600" dirty="0"/>
          </a:p>
          <a:p>
            <a:r>
              <a:rPr lang="en-IN" sz="1600" b="1" dirty="0"/>
              <a:t>4. Chroma — Vector Database</a:t>
            </a:r>
            <a:br>
              <a:rPr lang="en-IN" sz="1600" dirty="0"/>
            </a:br>
            <a:r>
              <a:rPr lang="en-IN" sz="1600" dirty="0"/>
              <a:t>Used for local vector storage and retrieval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385FFD-C7C3-5274-1608-B7C61058D58F}"/>
              </a:ext>
            </a:extLst>
          </p:cNvPr>
          <p:cNvSpPr txBox="1"/>
          <p:nvPr/>
        </p:nvSpPr>
        <p:spPr>
          <a:xfrm>
            <a:off x="6095999" y="919446"/>
            <a:ext cx="560717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MODEL / MULTIMODAL REFERENCES</a:t>
            </a:r>
          </a:p>
          <a:p>
            <a:pPr>
              <a:buNone/>
            </a:pPr>
            <a:r>
              <a:rPr lang="en-IN" sz="1600" b="1" dirty="0"/>
              <a:t>1. Hugging Face — Open Models &amp; Transformers</a:t>
            </a:r>
            <a:br>
              <a:rPr lang="en-IN" sz="1600" dirty="0"/>
            </a:br>
            <a:r>
              <a:rPr lang="en-IN" sz="1600" dirty="0"/>
              <a:t>Reference ecosystem for open-weight language and multimodal models.</a:t>
            </a:r>
            <a:br>
              <a:rPr lang="en-IN" sz="1600" dirty="0"/>
            </a:br>
            <a:r>
              <a:rPr lang="en-IN" sz="1600" dirty="0">
                <a:hlinkClick r:id="rId9"/>
              </a:rPr>
              <a:t>Hugging Face Transformers</a:t>
            </a:r>
            <a:endParaRPr lang="en-IN" sz="1600" dirty="0"/>
          </a:p>
          <a:p>
            <a:r>
              <a:rPr lang="en-IN" sz="1600" b="1" dirty="0"/>
              <a:t>2. Tesseract OCR</a:t>
            </a:r>
            <a:br>
              <a:rPr lang="en-IN" sz="1600" dirty="0"/>
            </a:br>
            <a:r>
              <a:rPr lang="en-IN" sz="1600" dirty="0"/>
              <a:t>Reference for local text extraction from scanned documents/images.</a:t>
            </a:r>
            <a:br>
              <a:rPr lang="en-IN" sz="1600" dirty="0"/>
            </a:br>
            <a:r>
              <a:rPr lang="en-IN" sz="1600" dirty="0">
                <a:hlinkClick r:id="rId10"/>
              </a:rPr>
              <a:t>Tesseract OCR</a:t>
            </a:r>
            <a:endParaRPr lang="en-IN" sz="1600" dirty="0"/>
          </a:p>
          <a:p>
            <a:r>
              <a:rPr lang="en-IN" sz="1600" b="1" dirty="0"/>
              <a:t>Document Generation</a:t>
            </a:r>
          </a:p>
          <a:p>
            <a:r>
              <a:rPr lang="en-IN" sz="1600" b="1" dirty="0"/>
              <a:t>1. Python-docx </a:t>
            </a:r>
            <a:br>
              <a:rPr lang="en-IN" sz="1600" dirty="0"/>
            </a:br>
            <a:r>
              <a:rPr lang="en-IN" sz="1600" dirty="0"/>
              <a:t>Used to generate structured DOCX reports and approval notes from agent outputs.</a:t>
            </a:r>
            <a:br>
              <a:rPr lang="en-IN" sz="1600" dirty="0"/>
            </a:br>
            <a:r>
              <a:rPr lang="en-IN" sz="1600" dirty="0">
                <a:hlinkClick r:id="rId11"/>
              </a:rPr>
              <a:t>python-docx Documentation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8059</TotalTime>
  <Words>1051</Words>
  <Application>Microsoft Office PowerPoint</Application>
  <PresentationFormat>Widescreen</PresentationFormat>
  <Paragraphs>172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V.A.U.L.T. — Sovereign On-Premise Agentic AI Workbench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Ashutosh Kumar</cp:lastModifiedBy>
  <cp:revision>173</cp:revision>
  <dcterms:created xsi:type="dcterms:W3CDTF">2013-12-12T18:46:50Z</dcterms:created>
  <dcterms:modified xsi:type="dcterms:W3CDTF">2026-08-31T05:09:30Z</dcterms:modified>
  <cp:category/>
</cp:coreProperties>
</file>